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3"/>
  </p:notesMasterIdLst>
  <p:sldIdLst>
    <p:sldId id="256" r:id="rId5"/>
    <p:sldId id="258" r:id="rId6"/>
    <p:sldId id="265" r:id="rId7"/>
    <p:sldId id="320" r:id="rId8"/>
    <p:sldId id="321" r:id="rId9"/>
    <p:sldId id="322" r:id="rId10"/>
    <p:sldId id="324" r:id="rId11"/>
    <p:sldId id="323" r:id="rId12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76" autoAdjust="0"/>
    <p:restoredTop sz="80863"/>
  </p:normalViewPr>
  <p:slideViewPr>
    <p:cSldViewPr snapToGrid="0">
      <p:cViewPr varScale="1">
        <p:scale>
          <a:sx n="73" d="100"/>
          <a:sy n="73" d="100"/>
        </p:scale>
        <p:origin x="4792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F7BBDC23-480F-41F2-8086-91EFEAF44BE1}"/>
    <pc:docChg chg="custSel addSld modSld">
      <pc:chgData name="Ana Valeria Mendoza Cipagauta" userId="9d05f6fe-bc3e-4e8b-b0a3-47cfb1c3fad5" providerId="ADAL" clId="{F7BBDC23-480F-41F2-8086-91EFEAF44BE1}" dt="2023-01-18T20:18:46.005" v="1" actId="27636"/>
      <pc:docMkLst>
        <pc:docMk/>
      </pc:docMkLst>
      <pc:sldChg chg="modSp">
        <pc:chgData name="Ana Valeria Mendoza Cipagauta" userId="9d05f6fe-bc3e-4e8b-b0a3-47cfb1c3fad5" providerId="ADAL" clId="{F7BBDC23-480F-41F2-8086-91EFEAF44BE1}" dt="2023-01-18T20:18:46.005" v="1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F7BBDC23-480F-41F2-8086-91EFEAF44BE1}" dt="2023-01-18T20:18:46.005" v="1" actId="27636"/>
          <ac:spMkLst>
            <pc:docMk/>
            <pc:sldMk cId="2908288428" sldId="256"/>
            <ac:spMk id="3" creationId="{2D598DFA-329B-2E42-B0CD-A299535D3FF7}"/>
          </ac:spMkLst>
        </pc:spChg>
      </pc:sldChg>
    </pc:docChg>
  </pc:docChgLst>
  <pc:docChgLst>
    <pc:chgData name="Ana Valeria Mendoza Cipagauta" userId="9d05f6fe-bc3e-4e8b-b0a3-47cfb1c3fad5" providerId="ADAL" clId="{D5729CB1-FFA8-4DCC-A8D5-FC67CE02E207}"/>
    <pc:docChg chg="custSel addSld delSld modSld">
      <pc:chgData name="Ana Valeria Mendoza Cipagauta" userId="9d05f6fe-bc3e-4e8b-b0a3-47cfb1c3fad5" providerId="ADAL" clId="{D5729CB1-FFA8-4DCC-A8D5-FC67CE02E207}" dt="2023-01-20T13:06:51.766" v="2" actId="27636"/>
      <pc:docMkLst>
        <pc:docMk/>
      </pc:docMkLst>
      <pc:sldChg chg="modSp">
        <pc:chgData name="Ana Valeria Mendoza Cipagauta" userId="9d05f6fe-bc3e-4e8b-b0a3-47cfb1c3fad5" providerId="ADAL" clId="{D5729CB1-FFA8-4DCC-A8D5-FC67CE02E207}" dt="2023-01-20T13:06:51.766" v="2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D5729CB1-FFA8-4DCC-A8D5-FC67CE02E207}" dt="2023-01-20T13:06:51.766" v="2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D5729CB1-FFA8-4DCC-A8D5-FC67CE02E207}" dt="2023-01-20T13:06:50.315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D5729CB1-FFA8-4DCC-A8D5-FC67CE02E207}" dt="2023-01-20T13:06:51.677" v="1"/>
        <pc:sldMkLst>
          <pc:docMk/>
          <pc:sldMk cId="4171484528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5/09/25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81875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31475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81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8F0FD-C7BF-B760-1863-E63CC06B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53F0C-24D6-819F-95DA-D0F2EC061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AE720-7AD6-98E2-7FA7-C92CEDD33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08C00-EAEB-C692-32EA-106CBCD3B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7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7328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501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5/09/25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>
            <a:normAutofit lnSpcReduction="10000"/>
          </a:bodyPr>
          <a:lstStyle/>
          <a:p>
            <a:r>
              <a:rPr lang="es-CO" sz="4000" dirty="0"/>
              <a:t>Cuaderno de Trabajo 5 </a:t>
            </a:r>
          </a:p>
          <a:p>
            <a:r>
              <a:rPr lang="es-CO" sz="4000" dirty="0"/>
              <a:t>Patrones de diseño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447866" y="6716081"/>
            <a:ext cx="9443633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5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Analizar estilos de arquitectura para desempeño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F646-4805-9749-93FF-6DCB67979D08}"/>
              </a:ext>
            </a:extLst>
          </p:cNvPr>
          <p:cNvSpPr txBox="1"/>
          <p:nvPr/>
        </p:nvSpPr>
        <p:spPr>
          <a:xfrm>
            <a:off x="1081364" y="2830665"/>
            <a:ext cx="128011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O" sz="6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Estilos de Arquitectura y Desempeño</a:t>
            </a:r>
          </a:p>
        </p:txBody>
      </p:sp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934445" y="3182294"/>
            <a:ext cx="14270636" cy="54908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accent1"/>
                </a:solidFill>
              </a:rPr>
              <a:t>A partir de los modelos diseñados en el proyecto hasta el momento: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Modifique un modelo para aplicar una táctica de arquitectura de control de la demanda de recursos</a:t>
            </a:r>
            <a:endParaRPr lang="es-ES" sz="2800" dirty="0">
              <a:solidFill>
                <a:schemeClr val="accent1"/>
              </a:solidFill>
              <a:cs typeface="Arial"/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Modifique un modelo para aplicar una táctica de arquitectura de manejo de recursos</a:t>
            </a:r>
            <a:endParaRPr lang="es-ES" sz="2800" dirty="0">
              <a:solidFill>
                <a:schemeClr val="accent1"/>
              </a:solidFill>
              <a:cs typeface="Arial"/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Modifique uno de los modelos de arquitectura desarrollado en los puntos a y b para utilizar al menos dos patrones de diseño detallado visto en el curso</a:t>
            </a:r>
            <a:endParaRPr lang="en-CO" sz="2800" dirty="0">
              <a:solidFill>
                <a:schemeClr val="accent1"/>
              </a:solidFill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</a:pPr>
            <a:endParaRPr lang="en-CO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Modifique un modelo para aplicar una táctica de arquitectura de control de demanda de recursos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61F1-3187-EA3B-38C9-0A0890B3E643}"/>
              </a:ext>
            </a:extLst>
          </p:cNvPr>
          <p:cNvSpPr txBox="1"/>
          <p:nvPr/>
        </p:nvSpPr>
        <p:spPr>
          <a:xfrm>
            <a:off x="10295518" y="2747718"/>
            <a:ext cx="10049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4000" b="1" i="1" dirty="0"/>
              <a:t>Demanda de recursos </a:t>
            </a:r>
          </a:p>
          <a:p>
            <a:r>
              <a:rPr lang="en-CO" sz="4000" b="1" i="1" dirty="0"/>
              <a:t>Limitar la respuesta a eventos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CBC6D1-2114-5758-B586-092663255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30" y="2466364"/>
            <a:ext cx="8810737" cy="69227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F63D5C-93B7-FA3F-6FE6-618DCD95BC0E}"/>
              </a:ext>
            </a:extLst>
          </p:cNvPr>
          <p:cNvSpPr txBox="1"/>
          <p:nvPr/>
        </p:nvSpPr>
        <p:spPr>
          <a:xfrm>
            <a:off x="10295518" y="4694982"/>
            <a:ext cx="81507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2400" dirty="0"/>
              <a:t>Se limita la respuesta a eventos con un nuevo componente limitador que hará parte del subsistema de servicios comúnes/compartidos. Expone al API Gateway una operación de consultar el límite, puede ser de un servicio, subsistema, cliente, operación especifica, entre otros. El API Gateway puede integrar este nuevo servicio y basado en su respuesta decidir si limitar o no un evento/request, entregando por ejemplo un HTTP Status 429 al cliente para indicarle que ha sido llimitado durante un tiempo. Este componente es una pieza adicional a la seguridad del sistema.    </a:t>
            </a:r>
          </a:p>
        </p:txBody>
      </p:sp>
    </p:spTree>
    <p:extLst>
      <p:ext uri="{BB962C8B-B14F-4D97-AF65-F5344CB8AC3E}">
        <p14:creationId xmlns:p14="http://schemas.microsoft.com/office/powerpoint/2010/main" val="254437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Modifique un modelo para aplicar una táctica de arquitectura para manejo de recursos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C7A0D7A-9FA2-84DD-B251-A463B286F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76" y="1719921"/>
            <a:ext cx="7772400" cy="9538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8080B-24B0-C899-154C-5C518A106B92}"/>
              </a:ext>
            </a:extLst>
          </p:cNvPr>
          <p:cNvSpPr txBox="1"/>
          <p:nvPr/>
        </p:nvSpPr>
        <p:spPr>
          <a:xfrm>
            <a:off x="11359662" y="3569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435F9-49A4-ABC1-6733-79AAAAC4FBFB}"/>
              </a:ext>
            </a:extLst>
          </p:cNvPr>
          <p:cNvSpPr txBox="1"/>
          <p:nvPr/>
        </p:nvSpPr>
        <p:spPr>
          <a:xfrm>
            <a:off x="9556964" y="2907957"/>
            <a:ext cx="73917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4000" b="1" i="1" dirty="0"/>
              <a:t>Manejo de recursos </a:t>
            </a:r>
          </a:p>
          <a:p>
            <a:r>
              <a:rPr lang="en-CO" sz="4000" b="1" i="1" dirty="0"/>
              <a:t>Introducción de concurrencia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D7BE3-7B5F-1C67-AD34-410C21E57E3C}"/>
              </a:ext>
            </a:extLst>
          </p:cNvPr>
          <p:cNvSpPr txBox="1"/>
          <p:nvPr/>
        </p:nvSpPr>
        <p:spPr>
          <a:xfrm>
            <a:off x="9556964" y="4725709"/>
            <a:ext cx="9038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400" dirty="0"/>
              <a:t>Se introduce concurrencia en el componente de compras para mejorar el proceso de carga de productos </a:t>
            </a:r>
            <a:r>
              <a:rPr lang="en-US" sz="2400" dirty="0" err="1"/>
              <a:t>cuando</a:t>
            </a:r>
            <a:r>
              <a:rPr lang="en-US" sz="2400" dirty="0"/>
              <a:t> se </a:t>
            </a:r>
            <a:r>
              <a:rPr lang="en-US" sz="2400" dirty="0" err="1"/>
              <a:t>sube</a:t>
            </a:r>
            <a:r>
              <a:rPr lang="en-US" sz="2400" dirty="0"/>
              <a:t> un nuevo </a:t>
            </a:r>
            <a:r>
              <a:rPr lang="en-US" sz="2400" dirty="0" err="1"/>
              <a:t>catálogo</a:t>
            </a:r>
            <a:r>
              <a:rPr lang="en-US" sz="2400" dirty="0"/>
              <a:t> al </a:t>
            </a:r>
            <a:r>
              <a:rPr lang="en-US" sz="2400" dirty="0" err="1"/>
              <a:t>sistema</a:t>
            </a:r>
            <a:r>
              <a:rPr lang="en-US" sz="2400" dirty="0"/>
              <a:t>.</a:t>
            </a:r>
          </a:p>
          <a:p>
            <a:r>
              <a:rPr lang="en-US" sz="2400" dirty="0"/>
              <a:t>Se </a:t>
            </a:r>
            <a:r>
              <a:rPr lang="en-US" sz="2400" dirty="0" err="1"/>
              <a:t>tienen</a:t>
            </a:r>
            <a:r>
              <a:rPr lang="en-US" sz="2400" dirty="0"/>
              <a:t> </a:t>
            </a:r>
            <a:r>
              <a:rPr lang="en-US" sz="2400" dirty="0" err="1"/>
              <a:t>hilos</a:t>
            </a:r>
            <a:r>
              <a:rPr lang="en-US" sz="2400" dirty="0"/>
              <a:t> para </a:t>
            </a:r>
            <a:r>
              <a:rPr lang="en-US" sz="2400" dirty="0" err="1"/>
              <a:t>diferentes</a:t>
            </a:r>
            <a:r>
              <a:rPr lang="en-US" sz="2400" dirty="0"/>
              <a:t> </a:t>
            </a:r>
            <a:r>
              <a:rPr lang="en-US" sz="2400" dirty="0" err="1"/>
              <a:t>actividades</a:t>
            </a:r>
            <a:r>
              <a:rPr lang="en-US" sz="2400" dirty="0"/>
              <a:t>, la </a:t>
            </a:r>
            <a:r>
              <a:rPr lang="en-US" sz="2400" dirty="0" err="1"/>
              <a:t>recepción</a:t>
            </a:r>
            <a:r>
              <a:rPr lang="en-US" sz="2400" dirty="0"/>
              <a:t> del </a:t>
            </a:r>
            <a:r>
              <a:rPr lang="en-US" sz="2400" dirty="0" err="1"/>
              <a:t>archivo</a:t>
            </a:r>
            <a:r>
              <a:rPr lang="en-US" sz="2400" dirty="0"/>
              <a:t>,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procesamiento</a:t>
            </a:r>
            <a:r>
              <a:rPr lang="en-US" sz="2400" dirty="0"/>
              <a:t>, que </a:t>
            </a:r>
            <a:r>
              <a:rPr lang="en-US" sz="2400" dirty="0" err="1"/>
              <a:t>puede</a:t>
            </a:r>
            <a:r>
              <a:rPr lang="en-US" sz="2400" dirty="0"/>
              <a:t> ser la </a:t>
            </a:r>
            <a:r>
              <a:rPr lang="en-US" sz="2400" dirty="0" err="1"/>
              <a:t>sanitización</a:t>
            </a:r>
            <a:r>
              <a:rPr lang="en-US" sz="2400" dirty="0"/>
              <a:t> o </a:t>
            </a:r>
            <a:r>
              <a:rPr lang="en-US" sz="2400" dirty="0" err="1"/>
              <a:t>cualquier</a:t>
            </a:r>
            <a:r>
              <a:rPr lang="en-US" sz="2400" dirty="0"/>
              <a:t> </a:t>
            </a:r>
            <a:r>
              <a:rPr lang="en-US" sz="2400" dirty="0" err="1"/>
              <a:t>otro</a:t>
            </a:r>
            <a:r>
              <a:rPr lang="en-US" sz="2400" dirty="0"/>
              <a:t> </a:t>
            </a:r>
            <a:r>
              <a:rPr lang="en-US" sz="2400" dirty="0" err="1"/>
              <a:t>proceso</a:t>
            </a:r>
            <a:r>
              <a:rPr lang="en-US" sz="2400" dirty="0"/>
              <a:t> </a:t>
            </a:r>
            <a:r>
              <a:rPr lang="en-US" sz="2400" dirty="0" err="1"/>
              <a:t>intermedio</a:t>
            </a:r>
            <a:r>
              <a:rPr lang="en-US" sz="2400" dirty="0"/>
              <a:t> con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datos</a:t>
            </a:r>
            <a:r>
              <a:rPr lang="en-US" sz="2400" dirty="0"/>
              <a:t>, y la </a:t>
            </a:r>
            <a:r>
              <a:rPr lang="en-US" sz="2400" dirty="0" err="1"/>
              <a:t>persistencia</a:t>
            </a:r>
            <a:r>
              <a:rPr lang="en-US" sz="2400" dirty="0"/>
              <a:t>.  </a:t>
            </a:r>
          </a:p>
          <a:p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13980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Modifique uno de los modelos de arquitectura desarrollado en los puntos a y b para utilizar al menos dos patrones de diseño detallado vistos en el curso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7DD268-0127-BD48-1D91-E5255F725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706" y="2655278"/>
            <a:ext cx="19967144" cy="720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46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5818-4BE9-00DA-322A-87223EDD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6D1D4DBC-4155-8096-F6A6-51BBB8FA0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76BF345A-0545-26E2-32C5-9A628637C418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Modifique uno de los modelos de arquitectura desarrollado en los puntos a y b para utilizar al menos dos patrones de diseño detallado vistos en el curso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FB7A47-1382-5587-6958-0CD9BE236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2" y="4626463"/>
            <a:ext cx="8469129" cy="30580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FD18D9-E1A5-F5EE-217D-B2C32DAE65D6}"/>
              </a:ext>
            </a:extLst>
          </p:cNvPr>
          <p:cNvSpPr txBox="1"/>
          <p:nvPr/>
        </p:nvSpPr>
        <p:spPr>
          <a:xfrm>
            <a:off x="11359662" y="3569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5344B-533E-B3ED-7FD7-F35CD0C12B65}"/>
              </a:ext>
            </a:extLst>
          </p:cNvPr>
          <p:cNvSpPr txBox="1"/>
          <p:nvPr/>
        </p:nvSpPr>
        <p:spPr>
          <a:xfrm>
            <a:off x="9556964" y="2907957"/>
            <a:ext cx="73917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4000" b="1" i="1" dirty="0"/>
              <a:t>Manejo de recursos </a:t>
            </a:r>
          </a:p>
          <a:p>
            <a:r>
              <a:rPr lang="en-CO" sz="4000" b="1" i="1" dirty="0"/>
              <a:t>Introducción de concurrencia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55021-25C3-D624-F8BD-2F528BE1A72A}"/>
              </a:ext>
            </a:extLst>
          </p:cNvPr>
          <p:cNvSpPr txBox="1"/>
          <p:nvPr/>
        </p:nvSpPr>
        <p:spPr>
          <a:xfrm>
            <a:off x="9556964" y="4540249"/>
            <a:ext cx="903849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GOF </a:t>
            </a:r>
          </a:p>
          <a:p>
            <a:pPr marL="457200" indent="-457200">
              <a:buAutoNum type="arabicPeriod"/>
            </a:pPr>
            <a:r>
              <a:rPr lang="es-ES" sz="2400" dirty="0" err="1"/>
              <a:t>Singleton</a:t>
            </a:r>
            <a:r>
              <a:rPr lang="es-ES" sz="2400" dirty="0"/>
              <a:t>: El pool de hilos se maneja como un </a:t>
            </a:r>
            <a:r>
              <a:rPr lang="es-ES" sz="2400" dirty="0" err="1"/>
              <a:t>singleton</a:t>
            </a:r>
            <a:endParaRPr lang="es-ES" sz="2400" dirty="0"/>
          </a:p>
          <a:p>
            <a:pPr marL="457200" indent="-457200">
              <a:buAutoNum type="arabicPeriod"/>
            </a:pPr>
            <a:r>
              <a:rPr lang="es-ES" sz="2400" dirty="0" err="1"/>
              <a:t>Facade</a:t>
            </a:r>
            <a:r>
              <a:rPr lang="es-ES" sz="2400" dirty="0"/>
              <a:t>: La clase Compras funciona como una fachada, su método de </a:t>
            </a:r>
            <a:r>
              <a:rPr lang="es-ES" sz="2400" dirty="0" err="1"/>
              <a:t>procesarArchivo</a:t>
            </a:r>
            <a:r>
              <a:rPr lang="es-ES" sz="2400" dirty="0"/>
              <a:t> agrupa subclases y expone una interfaz sencilla. </a:t>
            </a:r>
          </a:p>
          <a:p>
            <a:r>
              <a:rPr lang="es-ES" sz="2400" dirty="0"/>
              <a:t>SOLID </a:t>
            </a:r>
          </a:p>
          <a:p>
            <a:pPr marL="457200" indent="-457200">
              <a:buAutoNum type="arabicPeriod"/>
            </a:pPr>
            <a:r>
              <a:rPr lang="es-ES" sz="2400" dirty="0"/>
              <a:t>SRP: Cada clase tiene una única responsabilidad, como en en las diferentes actividades que hace cada tipo de hilo.</a:t>
            </a:r>
          </a:p>
          <a:p>
            <a:pPr marL="457200" indent="-457200">
              <a:buAutoNum type="arabicPeriod"/>
            </a:pPr>
            <a:r>
              <a:rPr lang="es-ES" sz="2400" dirty="0"/>
              <a:t>OCP: Pueden añadirse más tipos de hilos si es necesario. </a:t>
            </a:r>
          </a:p>
          <a:p>
            <a:pPr marL="457200" indent="-457200">
              <a:buAutoNum type="arabicPeriod"/>
            </a:pPr>
            <a:r>
              <a:rPr lang="es-ES" sz="2400" dirty="0"/>
              <a:t>DI: El pool de hilos es inyectado a cualquier clase Hilo.</a:t>
            </a:r>
          </a:p>
          <a:p>
            <a:r>
              <a:rPr lang="es-ES" sz="2400" dirty="0"/>
              <a:t>GRASP </a:t>
            </a:r>
          </a:p>
          <a:p>
            <a:pPr marL="457200" indent="-457200">
              <a:buAutoNum type="arabicPeriod"/>
            </a:pPr>
            <a:r>
              <a:rPr lang="es-ES" sz="2400" dirty="0" err="1"/>
              <a:t>Creator</a:t>
            </a:r>
            <a:r>
              <a:rPr lang="es-ES" sz="2400" dirty="0"/>
              <a:t>: El hilo recepción es el que crea los </a:t>
            </a:r>
            <a:r>
              <a:rPr lang="es-ES" sz="2400" dirty="0" err="1"/>
              <a:t>batchs</a:t>
            </a:r>
            <a:r>
              <a:rPr lang="es-ES" sz="2400" dirty="0"/>
              <a:t> y a su vez el hilo persistencia el que crea productos. </a:t>
            </a:r>
          </a:p>
          <a:p>
            <a:pPr marL="457200" indent="-457200">
              <a:buAutoNum type="arabicPeriod"/>
            </a:pPr>
            <a:r>
              <a:rPr lang="es-ES" sz="2400" dirty="0"/>
              <a:t>Alta cohesión: Cada clase tiene un conjunto de responsabilidades claras y altamente relacionadas. </a:t>
            </a:r>
          </a:p>
          <a:p>
            <a:pPr marL="457200" indent="-457200">
              <a:buAutoNum type="arabicPeriod"/>
            </a:pPr>
            <a:r>
              <a:rPr lang="es-ES" sz="2400" dirty="0"/>
              <a:t>Bajo acoplamiento: EL uso de la cola hace que los tipos de hilos no se acoplen. </a:t>
            </a:r>
            <a:endParaRPr lang="en-US" sz="2400" dirty="0"/>
          </a:p>
          <a:p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43701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C676BE-A842-407C-8538-CEB2C470BDBC}">
  <ds:schemaRefs>
    <ds:schemaRef ds:uri="http://schemas.microsoft.com/office/2006/metadata/properties"/>
    <ds:schemaRef ds:uri="http://purl.org/dc/elements/1.1/"/>
    <ds:schemaRef ds:uri="1a860d3e-6179-436c-977f-c8fec32702f9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975eb909-7871-4881-a0e4-375dc0be450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0116034-28F1-4387-B111-6E4DEDAFE6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F06DD3-141E-4434-8348-E680BF2E73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4792</TotalTime>
  <Words>672</Words>
  <Application>Microsoft Macintosh PowerPoint</Application>
  <PresentationFormat>Custom</PresentationFormat>
  <Paragraphs>47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127</cp:revision>
  <dcterms:created xsi:type="dcterms:W3CDTF">2020-02-04T21:09:36Z</dcterms:created>
  <dcterms:modified xsi:type="dcterms:W3CDTF">2025-09-06T02:52:56Z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0x01010032C2E94BA26B184CBB6282D7591E99F9</vt:lpwstr>
  </property>
  <property fmtid="{D5CDD505-2E9C-101B-9397-08002B2CF9AE}" pid="3" name="MediaServiceImageTags">
    <vt:lpwstr/>
  </property>
</Properties>
</file>