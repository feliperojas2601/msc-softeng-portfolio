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15"/>
  </p:notesMasterIdLst>
  <p:sldIdLst>
    <p:sldId id="256" r:id="rId5"/>
    <p:sldId id="258" r:id="rId6"/>
    <p:sldId id="265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20104100" cy="118554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4250"/>
    <a:srgbClr val="FF8CA6"/>
    <a:srgbClr val="974B59"/>
    <a:srgbClr val="965942"/>
    <a:srgbClr val="CFA5AA"/>
    <a:srgbClr val="342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3588"/>
  </p:normalViewPr>
  <p:slideViewPr>
    <p:cSldViewPr snapToGrid="0">
      <p:cViewPr varScale="1">
        <p:scale>
          <a:sx n="64" d="100"/>
          <a:sy n="64" d="100"/>
        </p:scale>
        <p:origin x="184" y="6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Valeria Mendoza Cipagauta" userId="9d05f6fe-bc3e-4e8b-b0a3-47cfb1c3fad5" providerId="ADAL" clId="{05F99DC9-7FA5-4410-AB46-D196C4D49ED9}"/>
    <pc:docChg chg="custSel addSld delSld modSld">
      <pc:chgData name="Ana Valeria Mendoza Cipagauta" userId="9d05f6fe-bc3e-4e8b-b0a3-47cfb1c3fad5" providerId="ADAL" clId="{05F99DC9-7FA5-4410-AB46-D196C4D49ED9}" dt="2023-01-20T13:02:24.569" v="3" actId="27636"/>
      <pc:docMkLst>
        <pc:docMk/>
      </pc:docMkLst>
      <pc:sldChg chg="modSp">
        <pc:chgData name="Ana Valeria Mendoza Cipagauta" userId="9d05f6fe-bc3e-4e8b-b0a3-47cfb1c3fad5" providerId="ADAL" clId="{05F99DC9-7FA5-4410-AB46-D196C4D49ED9}" dt="2023-01-20T13:02:24.569" v="3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05F99DC9-7FA5-4410-AB46-D196C4D49ED9}" dt="2023-01-20T13:02:24.569" v="3" actId="27636"/>
          <ac:spMkLst>
            <pc:docMk/>
            <pc:sldMk cId="2908288428" sldId="256"/>
            <ac:spMk id="2" creationId="{55E50992-41E3-B944-B348-48647978B886}"/>
          </ac:spMkLst>
        </pc:spChg>
        <pc:spChg chg="mod">
          <ac:chgData name="Ana Valeria Mendoza Cipagauta" userId="9d05f6fe-bc3e-4e8b-b0a3-47cfb1c3fad5" providerId="ADAL" clId="{05F99DC9-7FA5-4410-AB46-D196C4D49ED9}" dt="2023-01-20T13:02:24.529" v="2" actId="27636"/>
          <ac:spMkLst>
            <pc:docMk/>
            <pc:sldMk cId="2908288428" sldId="256"/>
            <ac:spMk id="3" creationId="{2D598DFA-329B-2E42-B0CD-A299535D3FF7}"/>
          </ac:spMkLst>
        </pc:spChg>
      </pc:sldChg>
      <pc:sldChg chg="del">
        <pc:chgData name="Ana Valeria Mendoza Cipagauta" userId="9d05f6fe-bc3e-4e8b-b0a3-47cfb1c3fad5" providerId="ADAL" clId="{05F99DC9-7FA5-4410-AB46-D196C4D49ED9}" dt="2023-01-20T13:02:19.667" v="0" actId="2696"/>
        <pc:sldMkLst>
          <pc:docMk/>
          <pc:sldMk cId="2526152964" sldId="274"/>
        </pc:sldMkLst>
      </pc:sldChg>
      <pc:sldChg chg="add">
        <pc:chgData name="Ana Valeria Mendoza Cipagauta" userId="9d05f6fe-bc3e-4e8b-b0a3-47cfb1c3fad5" providerId="ADAL" clId="{05F99DC9-7FA5-4410-AB46-D196C4D49ED9}" dt="2023-01-20T13:02:24.258" v="1"/>
        <pc:sldMkLst>
          <pc:docMk/>
          <pc:sldMk cId="4171484528" sldId="274"/>
        </pc:sldMkLst>
      </pc:sldChg>
    </pc:docChg>
  </pc:docChgLst>
  <pc:docChgLst>
    <pc:chgData name="Ana Valeria Mendoza Cipagauta" userId="9d05f6fe-bc3e-4e8b-b0a3-47cfb1c3fad5" providerId="ADAL" clId="{F075D094-5034-44EC-A34D-7F7B2577C8A3}"/>
    <pc:docChg chg="undo custSel addSld modSld sldOrd">
      <pc:chgData name="Ana Valeria Mendoza Cipagauta" userId="9d05f6fe-bc3e-4e8b-b0a3-47cfb1c3fad5" providerId="ADAL" clId="{F075D094-5034-44EC-A34D-7F7B2577C8A3}" dt="2023-01-18T19:33:21.359" v="38"/>
      <pc:docMkLst>
        <pc:docMk/>
      </pc:docMkLst>
      <pc:sldChg chg="modSp">
        <pc:chgData name="Ana Valeria Mendoza Cipagauta" userId="9d05f6fe-bc3e-4e8b-b0a3-47cfb1c3fad5" providerId="ADAL" clId="{F075D094-5034-44EC-A34D-7F7B2577C8A3}" dt="2023-01-18T19:29:44.544" v="2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F075D094-5034-44EC-A34D-7F7B2577C8A3}" dt="2023-01-18T19:29:44.541" v="1" actId="27636"/>
          <ac:spMkLst>
            <pc:docMk/>
            <pc:sldMk cId="2908288428" sldId="256"/>
            <ac:spMk id="2" creationId="{55E50992-41E3-B944-B348-48647978B886}"/>
          </ac:spMkLst>
        </pc:spChg>
        <pc:spChg chg="mod">
          <ac:chgData name="Ana Valeria Mendoza Cipagauta" userId="9d05f6fe-bc3e-4e8b-b0a3-47cfb1c3fad5" providerId="ADAL" clId="{F075D094-5034-44EC-A34D-7F7B2577C8A3}" dt="2023-01-18T19:29:44.544" v="2" actId="27636"/>
          <ac:spMkLst>
            <pc:docMk/>
            <pc:sldMk cId="2908288428" sldId="256"/>
            <ac:spMk id="3" creationId="{2D598DFA-329B-2E42-B0CD-A299535D3F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EE62C-472A-0944-B273-7A532AA1B9AC}" type="datetimeFigureOut">
              <a:rPr lang="en-CO" smtClean="0"/>
              <a:t>8/08/25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ACABF-6E5F-1440-8A94-6FA0FACD68FC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001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1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0409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2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4871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3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8105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4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87604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5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128933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6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07001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7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805447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8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529309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9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4066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1940233"/>
            <a:ext cx="15078075" cy="4127453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6226856"/>
            <a:ext cx="15078075" cy="2862322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30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88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86" y="2955631"/>
            <a:ext cx="17339786" cy="4931537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86" y="7933822"/>
            <a:ext cx="17339786" cy="259337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34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2157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7700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805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631194"/>
            <a:ext cx="17339786" cy="229150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4776" y="2906233"/>
            <a:ext cx="8504976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76" y="4330532"/>
            <a:ext cx="8504976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77701" y="2906233"/>
            <a:ext cx="8546861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7701" y="4330532"/>
            <a:ext cx="8546861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84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79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2AC05-58CE-4E49-B563-09D5951A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4448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6861" y="1706966"/>
            <a:ext cx="10177701" cy="8425054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804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46861" y="1706966"/>
            <a:ext cx="10177701" cy="8425054"/>
          </a:xfrm>
        </p:spPr>
        <p:txBody>
          <a:bodyPr anchor="t"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609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0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86996" y="631193"/>
            <a:ext cx="4334947" cy="1004694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2157" y="631193"/>
            <a:ext cx="12753538" cy="1004694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588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A9484B0-F8DA-3942-AEB4-AC77CA4CE475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8698A834-C399-FE4A-8AF7-4C083617CB7A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713501B0-9E0E-6645-A7CE-91BB42BEB3EB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E0AB0AA3-FC6C-B442-8456-AD7F97AEE4F7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9C8A4095-0BD9-5C44-B5C0-04E5BCAFD5D7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6D5C7BA6-D3B5-084C-AAFC-8B119C6FCE6B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82202673-B67E-1346-B14E-FD3C26EE47B9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DBC11555-86E2-D644-878F-9F1BC77B8DF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891AEE34-A4D3-754C-93D6-13460BA10354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39891505-45EC-E642-B8BB-D51703AB629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4">
            <a:extLst>
              <a:ext uri="{FF2B5EF4-FFF2-40B4-BE49-F238E27FC236}">
                <a16:creationId xmlns:a16="http://schemas.microsoft.com/office/drawing/2014/main" id="{A9A10BBC-C781-914C-BB86-52D279784C53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4128F62F-287A-F54D-92ED-3B9739C5760D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9541C34C-174C-6943-98EE-1AECE5B74A70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7">
            <a:extLst>
              <a:ext uri="{FF2B5EF4-FFF2-40B4-BE49-F238E27FC236}">
                <a16:creationId xmlns:a16="http://schemas.microsoft.com/office/drawing/2014/main" id="{CDC678A1-7F8B-6145-9FA6-F789269E1CD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D564D977-A150-4248-8049-C15579447985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419A55DF-1CB9-5D4D-BBF6-0C145438DDD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6E2D8DD1-4DE5-3F44-BEFA-11DBAB77446E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FF1AAF08-9EC7-0F48-AD70-BE5CA3BE2461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66A14E71-8851-7949-8634-48CDA7549E4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3">
            <a:extLst>
              <a:ext uri="{FF2B5EF4-FFF2-40B4-BE49-F238E27FC236}">
                <a16:creationId xmlns:a16="http://schemas.microsoft.com/office/drawing/2014/main" id="{0A7A9DCD-8185-1B48-90AD-58F373A655C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CA3D13B8-0C93-D443-87F1-694A1BEBFA5F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713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7AC649C-F953-AF45-B24A-74DC73993AE2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7F2733B0-6D43-154E-868C-C6BD4460469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C9E2229B-D6C0-B04D-83FB-E9A816CBE95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7A2288C5-077D-1743-85E1-4ECEFBD1F43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835C88AC-A107-7042-A036-E51E76415B90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6A3AA805-12B7-E442-B945-30D7D0F5D4F9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0AA6B5E5-961E-2640-A80B-26975E30CD92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175672B5-4116-C241-91B0-35EC4C7558E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F290B3F7-F827-5347-8F2F-2DE09B8AC4DA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8">
            <a:extLst>
              <a:ext uri="{FF2B5EF4-FFF2-40B4-BE49-F238E27FC236}">
                <a16:creationId xmlns:a16="http://schemas.microsoft.com/office/drawing/2014/main" id="{AB7F6A5C-8D68-2A47-86F0-2A45FCBACAD9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0BEC6072-6810-9442-AD0C-8019A3AC643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9B250FE4-36BF-F146-9400-1814D11DC01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901CB690-F8A5-314D-AA60-61A529B056E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2">
            <a:extLst>
              <a:ext uri="{FF2B5EF4-FFF2-40B4-BE49-F238E27FC236}">
                <a16:creationId xmlns:a16="http://schemas.microsoft.com/office/drawing/2014/main" id="{670E0DBE-C1CD-EC4B-9631-D439DAADD578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>
            <a:extLst>
              <a:ext uri="{FF2B5EF4-FFF2-40B4-BE49-F238E27FC236}">
                <a16:creationId xmlns:a16="http://schemas.microsoft.com/office/drawing/2014/main" id="{2DD5A65C-0AF7-3841-AB61-CB516969BA2C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4">
            <a:extLst>
              <a:ext uri="{FF2B5EF4-FFF2-40B4-BE49-F238E27FC236}">
                <a16:creationId xmlns:a16="http://schemas.microsoft.com/office/drawing/2014/main" id="{CBF7C7F1-A62B-7946-8E02-45E004FA6408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EAC3854A-CBC3-A447-AAF1-52893408CDCA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">
            <a:extLst>
              <a:ext uri="{FF2B5EF4-FFF2-40B4-BE49-F238E27FC236}">
                <a16:creationId xmlns:a16="http://schemas.microsoft.com/office/drawing/2014/main" id="{3D614B4C-F3EE-D746-AE1D-3A2CC38E6723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6">
            <a:extLst>
              <a:ext uri="{FF2B5EF4-FFF2-40B4-BE49-F238E27FC236}">
                <a16:creationId xmlns:a16="http://schemas.microsoft.com/office/drawing/2014/main" id="{266ED586-2D27-A34D-AE62-88FC460EF07F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FF569CA1-924D-C144-8D08-0C31DC9CB07D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4D484B88-E07B-074A-9430-B8CFAEEE19A3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711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A252CD70-906A-5E46-8AA4-C762E8ECD5A7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C07B2A4-8F50-5242-8938-A16E772EDBC7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B61E0EE2-83A6-E545-8741-6BFFA1A4BF3C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7">
            <a:extLst>
              <a:ext uri="{FF2B5EF4-FFF2-40B4-BE49-F238E27FC236}">
                <a16:creationId xmlns:a16="http://schemas.microsoft.com/office/drawing/2014/main" id="{8E58896A-38B0-E14A-8997-A017554DE67A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2EE54B99-A907-B945-8CCD-D2DB182FD1E1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0">
            <a:extLst>
              <a:ext uri="{FF2B5EF4-FFF2-40B4-BE49-F238E27FC236}">
                <a16:creationId xmlns:a16="http://schemas.microsoft.com/office/drawing/2014/main" id="{5A1D3919-490E-2C40-A029-3FF708F75DD6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52" name="object 11">
            <a:extLst>
              <a:ext uri="{FF2B5EF4-FFF2-40B4-BE49-F238E27FC236}">
                <a16:creationId xmlns:a16="http://schemas.microsoft.com/office/drawing/2014/main" id="{C38B9151-0E56-B342-9B48-B074865DF62E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2">
            <a:extLst>
              <a:ext uri="{FF2B5EF4-FFF2-40B4-BE49-F238E27FC236}">
                <a16:creationId xmlns:a16="http://schemas.microsoft.com/office/drawing/2014/main" id="{672C652E-9210-D144-AAFE-3D0A1D99F96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3">
            <a:extLst>
              <a:ext uri="{FF2B5EF4-FFF2-40B4-BE49-F238E27FC236}">
                <a16:creationId xmlns:a16="http://schemas.microsoft.com/office/drawing/2014/main" id="{ABA2F8DA-A9D9-9C4B-82DB-C907C5ABEA7B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4">
            <a:extLst>
              <a:ext uri="{FF2B5EF4-FFF2-40B4-BE49-F238E27FC236}">
                <a16:creationId xmlns:a16="http://schemas.microsoft.com/office/drawing/2014/main" id="{C4CA5A63-BD19-6040-B2B3-5FE3F7997A72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5">
            <a:extLst>
              <a:ext uri="{FF2B5EF4-FFF2-40B4-BE49-F238E27FC236}">
                <a16:creationId xmlns:a16="http://schemas.microsoft.com/office/drawing/2014/main" id="{855FB243-8412-BF4B-96EE-B3B181C4B5D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6">
            <a:extLst>
              <a:ext uri="{FF2B5EF4-FFF2-40B4-BE49-F238E27FC236}">
                <a16:creationId xmlns:a16="http://schemas.microsoft.com/office/drawing/2014/main" id="{7522AE22-522A-444E-A43A-95AF34460D8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7">
            <a:extLst>
              <a:ext uri="{FF2B5EF4-FFF2-40B4-BE49-F238E27FC236}">
                <a16:creationId xmlns:a16="http://schemas.microsoft.com/office/drawing/2014/main" id="{4F1491BF-C22E-2D47-ABF7-3F83E5CCF596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8">
            <a:extLst>
              <a:ext uri="{FF2B5EF4-FFF2-40B4-BE49-F238E27FC236}">
                <a16:creationId xmlns:a16="http://schemas.microsoft.com/office/drawing/2014/main" id="{773713B7-5530-C943-88DF-3F82542DF6B0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9">
            <a:extLst>
              <a:ext uri="{FF2B5EF4-FFF2-40B4-BE49-F238E27FC236}">
                <a16:creationId xmlns:a16="http://schemas.microsoft.com/office/drawing/2014/main" id="{7588C906-0804-8946-9814-503C77F4FB76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0">
            <a:extLst>
              <a:ext uri="{FF2B5EF4-FFF2-40B4-BE49-F238E27FC236}">
                <a16:creationId xmlns:a16="http://schemas.microsoft.com/office/drawing/2014/main" id="{1224459D-8A29-F14F-B974-76841C17796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F01D0FC8-1000-BB43-A19F-DD9054C12E50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2">
            <a:extLst>
              <a:ext uri="{FF2B5EF4-FFF2-40B4-BE49-F238E27FC236}">
                <a16:creationId xmlns:a16="http://schemas.microsoft.com/office/drawing/2014/main" id="{A91A5EC2-6CCA-214C-80ED-A630B9E2BEA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3">
            <a:extLst>
              <a:ext uri="{FF2B5EF4-FFF2-40B4-BE49-F238E27FC236}">
                <a16:creationId xmlns:a16="http://schemas.microsoft.com/office/drawing/2014/main" id="{8BF7E66E-3587-D447-9356-2DEF2831F8F5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24">
            <a:extLst>
              <a:ext uri="{FF2B5EF4-FFF2-40B4-BE49-F238E27FC236}">
                <a16:creationId xmlns:a16="http://schemas.microsoft.com/office/drawing/2014/main" id="{47D78474-8427-0E49-8D0F-92A10E3C673C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38AE06D4-D5D5-2545-B745-34D5E64A3E72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9785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8F7949E4-9FE3-E843-BC24-AAD406A12A3A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7885FFCA-4F47-7A49-9EDB-82031A050E2B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17D4FA60-4B8F-7A4F-BCDE-08E917C474D0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3ADE5F61-DFCC-FE4A-84D5-6F52D4EBFDC2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9F344F8C-FD67-554F-957F-A8034BC6349B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572E963D-A50F-274E-8712-28616CC44718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9C544DA1-C647-B144-920D-6A3B5028150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9510FC97-6053-1C46-9F93-DA4CF953D51F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D2883D3C-4A97-B24B-AFBF-8AF1F55D585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34C5B976-3C81-3545-A6D3-43D4219CF55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FFF3CF60-E9F7-6A4F-ACF0-8B8BCFEE191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35FEBC2-2834-634B-808D-1F61D282191D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B956163E-C304-FB4B-9A84-047354E7D5CC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FE9D06D4-5794-F14C-860B-C7C8CC2997DA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ACCD3DFD-36CD-B844-8F6E-4576F9324EFC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4FB37C75-3E4B-F742-BF10-C3561C91185D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4D9F86F6-916E-0649-94DA-F96453FC3D65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DFE5203F-2403-1C47-A7C6-AB202AED1F61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54EDD20F-6F2E-1D42-A947-D5400E7E5ED9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EAF0179D-DDDA-6148-B7B0-67F99D5AF01C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940DCEB7-206E-3047-ABDD-2AF10B3B8C6B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68566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547018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370119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08747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91366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53777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3442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193821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30114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246602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995660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864364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6816873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238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2157" y="631194"/>
            <a:ext cx="17339786" cy="2291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2157" y="3155965"/>
            <a:ext cx="17339786" cy="752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2157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69C3E-277C-4E1F-A249-5B730364B4FA}" type="datetimeFigureOut">
              <a:rPr lang="es-CO" smtClean="0"/>
              <a:t>8/08/25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59483" y="10988247"/>
            <a:ext cx="6785134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98520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195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693" r:id="rId20"/>
    <p:sldLayoutId id="2147483686" r:id="rId21"/>
    <p:sldLayoutId id="2147483687" r:id="rId22"/>
    <p:sldLayoutId id="2147483689" r:id="rId23"/>
    <p:sldLayoutId id="2147483688" r:id="rId24"/>
    <p:sldLayoutId id="2147483690" r:id="rId25"/>
    <p:sldLayoutId id="2147483691" r:id="rId26"/>
    <p:sldLayoutId id="2147483692" r:id="rId27"/>
    <p:sldLayoutId id="2147483714" r:id="rId28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5E50992-41E3-B944-B348-48647978B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1289" y="3854844"/>
            <a:ext cx="8207296" cy="128452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s-CO" sz="4800"/>
              <a:t>Cuaderno de trabajo 1</a:t>
            </a:r>
          </a:p>
          <a:p>
            <a:r>
              <a:rPr lang="es-CO" sz="4800" dirty="0"/>
              <a:t>Objetivos de negocio y restricciones</a:t>
            </a: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2D598DFA-329B-2E42-B0CD-A299535D3FF7}"/>
              </a:ext>
            </a:extLst>
          </p:cNvPr>
          <p:cNvSpPr txBox="1">
            <a:spLocks/>
          </p:cNvSpPr>
          <p:nvPr/>
        </p:nvSpPr>
        <p:spPr>
          <a:xfrm>
            <a:off x="10250974" y="6716080"/>
            <a:ext cx="9853126" cy="169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3600" dirty="0"/>
              <a:t>Principios de diseño y arquitectura de software</a:t>
            </a:r>
          </a:p>
          <a:p>
            <a:r>
              <a:rPr lang="es-CO" sz="3600" dirty="0"/>
              <a:t>Módulo 1</a:t>
            </a:r>
          </a:p>
        </p:txBody>
      </p:sp>
    </p:spTree>
    <p:extLst>
      <p:ext uri="{BB962C8B-B14F-4D97-AF65-F5344CB8AC3E}">
        <p14:creationId xmlns:p14="http://schemas.microsoft.com/office/powerpoint/2010/main" val="290828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riangle 36">
            <a:extLst>
              <a:ext uri="{FF2B5EF4-FFF2-40B4-BE49-F238E27FC236}">
                <a16:creationId xmlns:a16="http://schemas.microsoft.com/office/drawing/2014/main" id="{3FCA2B96-8A3D-E242-A5E3-D4E41B6FDAA1}"/>
              </a:ext>
            </a:extLst>
          </p:cNvPr>
          <p:cNvSpPr/>
          <p:nvPr/>
        </p:nvSpPr>
        <p:spPr>
          <a:xfrm>
            <a:off x="3398809" y="0"/>
            <a:ext cx="16705292" cy="11855450"/>
          </a:xfrm>
          <a:prstGeom prst="triangle">
            <a:avLst>
              <a:gd name="adj" fmla="val 9961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82241-1E6D-2F45-A434-4397FC7D8E66}"/>
              </a:ext>
            </a:extLst>
          </p:cNvPr>
          <p:cNvSpPr txBox="1"/>
          <p:nvPr/>
        </p:nvSpPr>
        <p:spPr>
          <a:xfrm>
            <a:off x="8275723" y="8708318"/>
            <a:ext cx="112135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3600" dirty="0">
                <a:solidFill>
                  <a:schemeClr val="bg1"/>
                </a:solidFill>
              </a:rPr>
              <a:t>Objetivo:</a:t>
            </a:r>
          </a:p>
          <a:p>
            <a:endParaRPr lang="en-CO" sz="3600" dirty="0">
              <a:solidFill>
                <a:schemeClr val="bg1"/>
              </a:solidFill>
            </a:endParaRPr>
          </a:p>
          <a:p>
            <a:r>
              <a:rPr lang="en-CO" sz="3600" dirty="0">
                <a:solidFill>
                  <a:schemeClr val="bg1"/>
                </a:solidFill>
              </a:rPr>
              <a:t>Identificar restricciones de negocio, restricciones de tecnología y objetivos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CF646-4805-9749-93FF-6DCB67979D08}"/>
              </a:ext>
            </a:extLst>
          </p:cNvPr>
          <p:cNvSpPr txBox="1"/>
          <p:nvPr/>
        </p:nvSpPr>
        <p:spPr>
          <a:xfrm>
            <a:off x="549343" y="3147132"/>
            <a:ext cx="128019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600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Restricciones y Objetivos de negocio</a:t>
            </a:r>
          </a:p>
        </p:txBody>
      </p:sp>
    </p:spTree>
    <p:extLst>
      <p:ext uri="{BB962C8B-B14F-4D97-AF65-F5344CB8AC3E}">
        <p14:creationId xmlns:p14="http://schemas.microsoft.com/office/powerpoint/2010/main" val="1173090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846DF9A9-623E-B94B-ABFB-55F40F134C51}"/>
              </a:ext>
            </a:extLst>
          </p:cNvPr>
          <p:cNvSpPr/>
          <p:nvPr/>
        </p:nvSpPr>
        <p:spPr>
          <a:xfrm>
            <a:off x="968334" y="819883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Instrucciones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06D19-67FB-F64C-8F91-4A22F32D7DCB}"/>
              </a:ext>
            </a:extLst>
          </p:cNvPr>
          <p:cNvSpPr txBox="1"/>
          <p:nvPr/>
        </p:nvSpPr>
        <p:spPr>
          <a:xfrm>
            <a:off x="1499016" y="3078299"/>
            <a:ext cx="142706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L</a:t>
            </a:r>
            <a:r>
              <a:rPr lang="en-US" sz="2800" dirty="0">
                <a:solidFill>
                  <a:schemeClr val="accent1"/>
                </a:solidFill>
              </a:rPr>
              <a:t>e</a:t>
            </a:r>
            <a:r>
              <a:rPr lang="en-CO" sz="2800" dirty="0">
                <a:solidFill>
                  <a:schemeClr val="accent1"/>
                </a:solidFill>
              </a:rPr>
              <a:t>a de nuevo, con detenimiento, el enunciado del proyecto del curso</a:t>
            </a:r>
          </a:p>
          <a:p>
            <a:pPr marL="514350" indent="-514350"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En esta lectura, identifique expresiones que usted considere que reflejan</a:t>
            </a:r>
          </a:p>
          <a:p>
            <a:pPr marL="971550" lvl="1" indent="-514350"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Objetivos de negocio</a:t>
            </a:r>
          </a:p>
          <a:p>
            <a:pPr marL="971550" lvl="1" indent="-514350"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Restricciones de negocio</a:t>
            </a:r>
          </a:p>
          <a:p>
            <a:pPr marL="971550" lvl="1" indent="-514350"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Restricciones de tecnología</a:t>
            </a:r>
          </a:p>
          <a:p>
            <a:pPr marL="514350" indent="-514350"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En las siguienes hojas, encontrará un espacio para documentar objetivos y restricciones </a:t>
            </a:r>
          </a:p>
          <a:p>
            <a:pPr marL="514350" indent="-514350"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Una vez haya terminado de documentar los objetivos y restricciones debe seguir las instrucciones dadas en la lección para enviar su trabajo</a:t>
            </a:r>
          </a:p>
        </p:txBody>
      </p:sp>
    </p:spTree>
    <p:extLst>
      <p:ext uri="{BB962C8B-B14F-4D97-AF65-F5344CB8AC3E}">
        <p14:creationId xmlns:p14="http://schemas.microsoft.com/office/powerpoint/2010/main" val="421993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846DF9A9-623E-B94B-ABFB-55F40F134C51}"/>
              </a:ext>
            </a:extLst>
          </p:cNvPr>
          <p:cNvSpPr/>
          <p:nvPr/>
        </p:nvSpPr>
        <p:spPr>
          <a:xfrm>
            <a:off x="2827114" y="849088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Objetivos de Negocio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1DB664-8FE3-AC42-BEBE-C3663D08BD50}"/>
              </a:ext>
            </a:extLst>
          </p:cNvPr>
          <p:cNvGrpSpPr/>
          <p:nvPr/>
        </p:nvGrpSpPr>
        <p:grpSpPr>
          <a:xfrm>
            <a:off x="1083724" y="887859"/>
            <a:ext cx="843147" cy="2323123"/>
            <a:chOff x="6338159" y="2119567"/>
            <a:chExt cx="1238250" cy="3143965"/>
          </a:xfrm>
          <a:scene3d>
            <a:camera prst="orthographicFront"/>
            <a:lightRig rig="freezing" dir="t"/>
          </a:scene3d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D8F9AF4-A992-5049-B55F-DE81F90F71AA}"/>
                </a:ext>
              </a:extLst>
            </p:cNvPr>
            <p:cNvGrpSpPr/>
            <p:nvPr/>
          </p:nvGrpSpPr>
          <p:grpSpPr>
            <a:xfrm>
              <a:off x="6338159" y="2119567"/>
              <a:ext cx="1238250" cy="3143965"/>
              <a:chOff x="9547588" y="2933700"/>
              <a:chExt cx="1238250" cy="314396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948858-27A2-114A-8EC8-A4E6A9F80813}"/>
                  </a:ext>
                </a:extLst>
              </p:cNvPr>
              <p:cNvSpPr/>
              <p:nvPr/>
            </p:nvSpPr>
            <p:spPr>
              <a:xfrm>
                <a:off x="9728562" y="2933700"/>
                <a:ext cx="876300" cy="8382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sp>
            <p:nvSpPr>
              <p:cNvPr id="51" name="Chord 50">
                <a:extLst>
                  <a:ext uri="{FF2B5EF4-FFF2-40B4-BE49-F238E27FC236}">
                    <a16:creationId xmlns:a16="http://schemas.microsoft.com/office/drawing/2014/main" id="{174A1784-9F8C-9F45-9559-B70B3DE49988}"/>
                  </a:ext>
                </a:extLst>
              </p:cNvPr>
              <p:cNvSpPr/>
              <p:nvPr/>
            </p:nvSpPr>
            <p:spPr>
              <a:xfrm rot="5572581">
                <a:off x="9028647" y="4320475"/>
                <a:ext cx="2276131" cy="123825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9C03EEE-323D-B742-A028-8BE0FC6F4D82}"/>
                  </a:ext>
                </a:extLst>
              </p:cNvPr>
              <p:cNvGrpSpPr/>
              <p:nvPr/>
            </p:nvGrpSpPr>
            <p:grpSpPr>
              <a:xfrm>
                <a:off x="10052050" y="3790949"/>
                <a:ext cx="304800" cy="946988"/>
                <a:chOff x="14116050" y="4057648"/>
                <a:chExt cx="304800" cy="946988"/>
              </a:xfrm>
            </p:grpSpPr>
            <p:sp>
              <p:nvSpPr>
                <p:cNvPr id="60" name="Triangle 59">
                  <a:extLst>
                    <a:ext uri="{FF2B5EF4-FFF2-40B4-BE49-F238E27FC236}">
                      <a16:creationId xmlns:a16="http://schemas.microsoft.com/office/drawing/2014/main" id="{9B7FE1DF-C402-074F-BD2F-FDD98931A62C}"/>
                    </a:ext>
                  </a:extLst>
                </p:cNvPr>
                <p:cNvSpPr/>
                <p:nvPr/>
              </p:nvSpPr>
              <p:spPr>
                <a:xfrm rot="10582158">
                  <a:off x="14116050" y="4057648"/>
                  <a:ext cx="304800" cy="247652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  <p:sp>
              <p:nvSpPr>
                <p:cNvPr id="61" name="Snip Diagonal Corner Rectangle 60">
                  <a:extLst>
                    <a:ext uri="{FF2B5EF4-FFF2-40B4-BE49-F238E27FC236}">
                      <a16:creationId xmlns:a16="http://schemas.microsoft.com/office/drawing/2014/main" id="{BE807AA3-275D-6147-A6F0-32D524A50B1D}"/>
                    </a:ext>
                  </a:extLst>
                </p:cNvPr>
                <p:cNvSpPr/>
                <p:nvPr/>
              </p:nvSpPr>
              <p:spPr>
                <a:xfrm>
                  <a:off x="14185622" y="4314703"/>
                  <a:ext cx="169144" cy="689933"/>
                </a:xfrm>
                <a:prstGeom prst="snip2Diag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</p:grpSp>
        </p:grpSp>
        <p:sp>
          <p:nvSpPr>
            <p:cNvPr id="46" name="Triangle 45">
              <a:extLst>
                <a:ext uri="{FF2B5EF4-FFF2-40B4-BE49-F238E27FC236}">
                  <a16:creationId xmlns:a16="http://schemas.microsoft.com/office/drawing/2014/main" id="{CA621B0D-12DB-FC42-B1F0-FF4CFFF0E789}"/>
                </a:ext>
              </a:extLst>
            </p:cNvPr>
            <p:cNvSpPr/>
            <p:nvPr/>
          </p:nvSpPr>
          <p:spPr>
            <a:xfrm rot="9681471">
              <a:off x="6773681" y="3145891"/>
              <a:ext cx="225209" cy="988095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7" name="Triangle 46">
              <a:extLst>
                <a:ext uri="{FF2B5EF4-FFF2-40B4-BE49-F238E27FC236}">
                  <a16:creationId xmlns:a16="http://schemas.microsoft.com/office/drawing/2014/main" id="{BD4015BC-9CCD-2749-ABCD-CCE6985CDA31}"/>
                </a:ext>
              </a:extLst>
            </p:cNvPr>
            <p:cNvSpPr/>
            <p:nvPr/>
          </p:nvSpPr>
          <p:spPr>
            <a:xfrm rot="11398682">
              <a:off x="7060686" y="3138504"/>
              <a:ext cx="170259" cy="925818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9" name="Diagonal Stripe 48">
              <a:extLst>
                <a:ext uri="{FF2B5EF4-FFF2-40B4-BE49-F238E27FC236}">
                  <a16:creationId xmlns:a16="http://schemas.microsoft.com/office/drawing/2014/main" id="{3920BE55-66F9-1549-AB39-76DCE0576783}"/>
                </a:ext>
              </a:extLst>
            </p:cNvPr>
            <p:cNvSpPr/>
            <p:nvPr/>
          </p:nvSpPr>
          <p:spPr>
            <a:xfrm rot="2425840">
              <a:off x="6876000" y="2627071"/>
              <a:ext cx="257175" cy="220880"/>
            </a:xfrm>
            <a:prstGeom prst="diagStrip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A78A9C-137F-A849-9090-AF4932741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582231"/>
              </p:ext>
            </p:extLst>
          </p:nvPr>
        </p:nvGraphicFramePr>
        <p:xfrm>
          <a:off x="1042054" y="3091526"/>
          <a:ext cx="17640411" cy="5538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2694">
                  <a:extLst>
                    <a:ext uri="{9D8B030D-6E8A-4147-A177-3AD203B41FA5}">
                      <a16:colId xmlns:a16="http://schemas.microsoft.com/office/drawing/2014/main" val="238471029"/>
                    </a:ext>
                  </a:extLst>
                </a:gridCol>
                <a:gridCol w="10677717">
                  <a:extLst>
                    <a:ext uri="{9D8B030D-6E8A-4147-A177-3AD203B41FA5}">
                      <a16:colId xmlns:a16="http://schemas.microsoft.com/office/drawing/2014/main" val="1584254929"/>
                    </a:ext>
                  </a:extLst>
                </a:gridCol>
              </a:tblGrid>
              <a:tr h="783533">
                <a:tc gridSpan="2">
                  <a:txBody>
                    <a:bodyPr/>
                    <a:lstStyle/>
                    <a:p>
                      <a:pPr algn="ctr"/>
                      <a:r>
                        <a:rPr lang="en-CO" sz="2400" dirty="0"/>
                        <a:t>Objetivo de negocio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29685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Descripción del 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Incrementar </a:t>
                      </a:r>
                      <a:r>
                        <a:rPr lang="en-US" sz="2800" dirty="0" err="1"/>
                        <a:t>los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ingresos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anuales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en</a:t>
                      </a:r>
                      <a:r>
                        <a:rPr lang="en-US" sz="2800" dirty="0"/>
                        <a:t> un 10% </a:t>
                      </a:r>
                      <a:r>
                        <a:rPr lang="en-US" sz="2800" dirty="0" err="1"/>
                        <a:t>año</a:t>
                      </a:r>
                      <a:r>
                        <a:rPr lang="en-US" sz="2800" dirty="0"/>
                        <a:t> a </a:t>
                      </a:r>
                      <a:r>
                        <a:rPr lang="en-US" sz="2800" dirty="0" err="1"/>
                        <a:t>año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durante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los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próximos</a:t>
                      </a:r>
                      <a:r>
                        <a:rPr lang="en-US" sz="2800" dirty="0"/>
                        <a:t> 4 </a:t>
                      </a:r>
                      <a:r>
                        <a:rPr lang="en-US" sz="2800" dirty="0" err="1"/>
                        <a:t>años</a:t>
                      </a:r>
                      <a:r>
                        <a:rPr lang="en-US" sz="2800" dirty="0"/>
                        <a:t>. Pasar de $97.3 </a:t>
                      </a:r>
                      <a:r>
                        <a:rPr lang="en-US" sz="2800" dirty="0" err="1"/>
                        <a:t>millones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anuales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actuales</a:t>
                      </a:r>
                      <a:r>
                        <a:rPr lang="en-US" sz="2800" dirty="0"/>
                        <a:t> a $142.4 </a:t>
                      </a:r>
                      <a:r>
                        <a:rPr lang="en-US" sz="2800" dirty="0" err="1"/>
                        <a:t>millones</a:t>
                      </a:r>
                      <a:r>
                        <a:rPr lang="en-US" sz="2800" dirty="0"/>
                        <a:t>. </a:t>
                      </a:r>
                      <a:endParaRPr lang="en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6990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Tiempo de cumplimiento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800" dirty="0"/>
                        <a:t>4 años.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310766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Mejora esperada al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800" dirty="0"/>
                        <a:t>Aumento de ventas y portafolio de productos. </a:t>
                      </a:r>
                    </a:p>
                    <a:p>
                      <a:r>
                        <a:rPr lang="en-CO" sz="2800" dirty="0"/>
                        <a:t>Expansión hacia nuevo mercado.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9445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Cómo considera que pueda afectar la arquitectura del sistema este 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800" dirty="0"/>
                        <a:t>Soportar un aumento de transacciones, requiere una arquitectura escalable.</a:t>
                      </a:r>
                    </a:p>
                    <a:p>
                      <a:r>
                        <a:rPr lang="en-CO" sz="2800" dirty="0"/>
                        <a:t>Soportar la expansión hacia nuevos segmentos, requiere una arquitecturable modificable.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8149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306D19-67FB-F64C-8F91-4A22F32D7DCB}"/>
              </a:ext>
            </a:extLst>
          </p:cNvPr>
          <p:cNvSpPr txBox="1"/>
          <p:nvPr/>
        </p:nvSpPr>
        <p:spPr>
          <a:xfrm>
            <a:off x="2827114" y="2329739"/>
            <a:ext cx="180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000" dirty="0">
                <a:solidFill>
                  <a:schemeClr val="accent1"/>
                </a:solidFill>
              </a:rPr>
              <a:t>A partir del enunciado del proyecto, identifique objetivos de negocio que puedan servir como entrada al proceso de diseño</a:t>
            </a:r>
          </a:p>
        </p:txBody>
      </p:sp>
    </p:spTree>
    <p:extLst>
      <p:ext uri="{BB962C8B-B14F-4D97-AF65-F5344CB8AC3E}">
        <p14:creationId xmlns:p14="http://schemas.microsoft.com/office/powerpoint/2010/main" val="400803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846DF9A9-623E-B94B-ABFB-55F40F134C51}"/>
              </a:ext>
            </a:extLst>
          </p:cNvPr>
          <p:cNvSpPr/>
          <p:nvPr/>
        </p:nvSpPr>
        <p:spPr>
          <a:xfrm>
            <a:off x="2827114" y="849088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Objetivos de Negocio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1DB664-8FE3-AC42-BEBE-C3663D08BD50}"/>
              </a:ext>
            </a:extLst>
          </p:cNvPr>
          <p:cNvGrpSpPr/>
          <p:nvPr/>
        </p:nvGrpSpPr>
        <p:grpSpPr>
          <a:xfrm>
            <a:off x="1083724" y="887859"/>
            <a:ext cx="843147" cy="2323123"/>
            <a:chOff x="6338159" y="2119567"/>
            <a:chExt cx="1238250" cy="3143965"/>
          </a:xfrm>
          <a:scene3d>
            <a:camera prst="orthographicFront"/>
            <a:lightRig rig="freezing" dir="t"/>
          </a:scene3d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D8F9AF4-A992-5049-B55F-DE81F90F71AA}"/>
                </a:ext>
              </a:extLst>
            </p:cNvPr>
            <p:cNvGrpSpPr/>
            <p:nvPr/>
          </p:nvGrpSpPr>
          <p:grpSpPr>
            <a:xfrm>
              <a:off x="6338159" y="2119567"/>
              <a:ext cx="1238250" cy="3143965"/>
              <a:chOff x="9547588" y="2933700"/>
              <a:chExt cx="1238250" cy="314396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948858-27A2-114A-8EC8-A4E6A9F80813}"/>
                  </a:ext>
                </a:extLst>
              </p:cNvPr>
              <p:cNvSpPr/>
              <p:nvPr/>
            </p:nvSpPr>
            <p:spPr>
              <a:xfrm>
                <a:off x="9728562" y="2933700"/>
                <a:ext cx="876300" cy="8382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sp>
            <p:nvSpPr>
              <p:cNvPr id="51" name="Chord 50">
                <a:extLst>
                  <a:ext uri="{FF2B5EF4-FFF2-40B4-BE49-F238E27FC236}">
                    <a16:creationId xmlns:a16="http://schemas.microsoft.com/office/drawing/2014/main" id="{174A1784-9F8C-9F45-9559-B70B3DE49988}"/>
                  </a:ext>
                </a:extLst>
              </p:cNvPr>
              <p:cNvSpPr/>
              <p:nvPr/>
            </p:nvSpPr>
            <p:spPr>
              <a:xfrm rot="5572581">
                <a:off x="9028647" y="4320475"/>
                <a:ext cx="2276131" cy="123825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9C03EEE-323D-B742-A028-8BE0FC6F4D82}"/>
                  </a:ext>
                </a:extLst>
              </p:cNvPr>
              <p:cNvGrpSpPr/>
              <p:nvPr/>
            </p:nvGrpSpPr>
            <p:grpSpPr>
              <a:xfrm>
                <a:off x="10052050" y="3790949"/>
                <a:ext cx="304800" cy="946988"/>
                <a:chOff x="14116050" y="4057648"/>
                <a:chExt cx="304800" cy="946988"/>
              </a:xfrm>
            </p:grpSpPr>
            <p:sp>
              <p:nvSpPr>
                <p:cNvPr id="60" name="Triangle 59">
                  <a:extLst>
                    <a:ext uri="{FF2B5EF4-FFF2-40B4-BE49-F238E27FC236}">
                      <a16:creationId xmlns:a16="http://schemas.microsoft.com/office/drawing/2014/main" id="{9B7FE1DF-C402-074F-BD2F-FDD98931A62C}"/>
                    </a:ext>
                  </a:extLst>
                </p:cNvPr>
                <p:cNvSpPr/>
                <p:nvPr/>
              </p:nvSpPr>
              <p:spPr>
                <a:xfrm rot="10582158">
                  <a:off x="14116050" y="4057648"/>
                  <a:ext cx="304800" cy="247652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  <p:sp>
              <p:nvSpPr>
                <p:cNvPr id="61" name="Snip Diagonal Corner Rectangle 60">
                  <a:extLst>
                    <a:ext uri="{FF2B5EF4-FFF2-40B4-BE49-F238E27FC236}">
                      <a16:creationId xmlns:a16="http://schemas.microsoft.com/office/drawing/2014/main" id="{BE807AA3-275D-6147-A6F0-32D524A50B1D}"/>
                    </a:ext>
                  </a:extLst>
                </p:cNvPr>
                <p:cNvSpPr/>
                <p:nvPr/>
              </p:nvSpPr>
              <p:spPr>
                <a:xfrm>
                  <a:off x="14185622" y="4314703"/>
                  <a:ext cx="169144" cy="689933"/>
                </a:xfrm>
                <a:prstGeom prst="snip2Diag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</p:grpSp>
        </p:grpSp>
        <p:sp>
          <p:nvSpPr>
            <p:cNvPr id="46" name="Triangle 45">
              <a:extLst>
                <a:ext uri="{FF2B5EF4-FFF2-40B4-BE49-F238E27FC236}">
                  <a16:creationId xmlns:a16="http://schemas.microsoft.com/office/drawing/2014/main" id="{CA621B0D-12DB-FC42-B1F0-FF4CFFF0E789}"/>
                </a:ext>
              </a:extLst>
            </p:cNvPr>
            <p:cNvSpPr/>
            <p:nvPr/>
          </p:nvSpPr>
          <p:spPr>
            <a:xfrm rot="9681471">
              <a:off x="6773681" y="3145891"/>
              <a:ext cx="225209" cy="988095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7" name="Triangle 46">
              <a:extLst>
                <a:ext uri="{FF2B5EF4-FFF2-40B4-BE49-F238E27FC236}">
                  <a16:creationId xmlns:a16="http://schemas.microsoft.com/office/drawing/2014/main" id="{BD4015BC-9CCD-2749-ABCD-CCE6985CDA31}"/>
                </a:ext>
              </a:extLst>
            </p:cNvPr>
            <p:cNvSpPr/>
            <p:nvPr/>
          </p:nvSpPr>
          <p:spPr>
            <a:xfrm rot="11398682">
              <a:off x="7060686" y="3138504"/>
              <a:ext cx="170259" cy="925818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9" name="Diagonal Stripe 48">
              <a:extLst>
                <a:ext uri="{FF2B5EF4-FFF2-40B4-BE49-F238E27FC236}">
                  <a16:creationId xmlns:a16="http://schemas.microsoft.com/office/drawing/2014/main" id="{3920BE55-66F9-1549-AB39-76DCE0576783}"/>
                </a:ext>
              </a:extLst>
            </p:cNvPr>
            <p:cNvSpPr/>
            <p:nvPr/>
          </p:nvSpPr>
          <p:spPr>
            <a:xfrm rot="2425840">
              <a:off x="6876000" y="2627071"/>
              <a:ext cx="257175" cy="220880"/>
            </a:xfrm>
            <a:prstGeom prst="diagStrip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A78A9C-137F-A849-9090-AF4932741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470404"/>
              </p:ext>
            </p:extLst>
          </p:nvPr>
        </p:nvGraphicFramePr>
        <p:xfrm>
          <a:off x="1042054" y="3091526"/>
          <a:ext cx="17640411" cy="5234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2694">
                  <a:extLst>
                    <a:ext uri="{9D8B030D-6E8A-4147-A177-3AD203B41FA5}">
                      <a16:colId xmlns:a16="http://schemas.microsoft.com/office/drawing/2014/main" val="238471029"/>
                    </a:ext>
                  </a:extLst>
                </a:gridCol>
                <a:gridCol w="10677717">
                  <a:extLst>
                    <a:ext uri="{9D8B030D-6E8A-4147-A177-3AD203B41FA5}">
                      <a16:colId xmlns:a16="http://schemas.microsoft.com/office/drawing/2014/main" val="1584254929"/>
                    </a:ext>
                  </a:extLst>
                </a:gridCol>
              </a:tblGrid>
              <a:tr h="783533">
                <a:tc gridSpan="2">
                  <a:txBody>
                    <a:bodyPr/>
                    <a:lstStyle/>
                    <a:p>
                      <a:pPr algn="ctr"/>
                      <a:r>
                        <a:rPr lang="en-CO" sz="2400" dirty="0"/>
                        <a:t>Objetivo de negocio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29685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Descripción del 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Incrementar </a:t>
                      </a:r>
                      <a:r>
                        <a:rPr lang="en-US" sz="2800" dirty="0" err="1"/>
                        <a:t>el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número</a:t>
                      </a:r>
                      <a:r>
                        <a:rPr lang="en-US" sz="2800" dirty="0"/>
                        <a:t> de </a:t>
                      </a:r>
                      <a:r>
                        <a:rPr lang="en-US" sz="2800" dirty="0" err="1"/>
                        <a:t>pedidos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mensuales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en</a:t>
                      </a:r>
                      <a:r>
                        <a:rPr lang="en-US" sz="2800" dirty="0"/>
                        <a:t> un 12% </a:t>
                      </a:r>
                      <a:r>
                        <a:rPr lang="en-US" sz="2800" dirty="0" err="1"/>
                        <a:t>anual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durante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los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próximos</a:t>
                      </a:r>
                      <a:r>
                        <a:rPr lang="en-US" sz="2800" dirty="0"/>
                        <a:t> 4 </a:t>
                      </a:r>
                      <a:r>
                        <a:rPr lang="en-US" sz="2800" dirty="0" err="1"/>
                        <a:t>años</a:t>
                      </a:r>
                      <a:r>
                        <a:rPr lang="en-US" sz="2800" dirty="0"/>
                        <a:t>. Pasar de 15000 </a:t>
                      </a:r>
                      <a:r>
                        <a:rPr lang="en-US" sz="2800" dirty="0" err="1"/>
                        <a:t>pedidos</a:t>
                      </a:r>
                      <a:r>
                        <a:rPr lang="en-US" sz="2800" dirty="0"/>
                        <a:t>/</a:t>
                      </a:r>
                      <a:r>
                        <a:rPr lang="en-US" sz="2800" dirty="0" err="1"/>
                        <a:t>mes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actuales</a:t>
                      </a:r>
                      <a:r>
                        <a:rPr lang="en-US" sz="2800" dirty="0"/>
                        <a:t> a 23602 </a:t>
                      </a:r>
                      <a:r>
                        <a:rPr lang="en-US" sz="2800" dirty="0" err="1"/>
                        <a:t>pedidos</a:t>
                      </a:r>
                      <a:r>
                        <a:rPr lang="en-US" sz="2800" dirty="0"/>
                        <a:t>/</a:t>
                      </a:r>
                      <a:r>
                        <a:rPr lang="en-US" sz="2800" dirty="0" err="1"/>
                        <a:t>mes</a:t>
                      </a:r>
                      <a:r>
                        <a:rPr lang="en-US" sz="2800" dirty="0"/>
                        <a:t>.</a:t>
                      </a:r>
                      <a:endParaRPr lang="en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6990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Tiempo de cumplimiento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800" dirty="0"/>
                        <a:t>4 años.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310766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Mejora esperada al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800" dirty="0"/>
                        <a:t>Aumento de ventas y flujo de caja.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9445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Cómo considera que pueda afectar la arquitectura del sistema este 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2800" dirty="0"/>
                        <a:t>Soportar un aumento de transacciones, requiere una arquitectura escalable.</a:t>
                      </a:r>
                    </a:p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2800" dirty="0"/>
                        <a:t>Soportar un aumento de registros almacenados y que esto no afecte el performance.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8149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306D19-67FB-F64C-8F91-4A22F32D7DCB}"/>
              </a:ext>
            </a:extLst>
          </p:cNvPr>
          <p:cNvSpPr txBox="1"/>
          <p:nvPr/>
        </p:nvSpPr>
        <p:spPr>
          <a:xfrm>
            <a:off x="2827114" y="2329739"/>
            <a:ext cx="180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000" dirty="0">
                <a:solidFill>
                  <a:schemeClr val="accent1"/>
                </a:solidFill>
              </a:rPr>
              <a:t>A partir del enunciado del proyecto, identifique objetivos de negocio que puedan servir como entrada al proceso de diseño</a:t>
            </a:r>
          </a:p>
        </p:txBody>
      </p:sp>
    </p:spTree>
    <p:extLst>
      <p:ext uri="{BB962C8B-B14F-4D97-AF65-F5344CB8AC3E}">
        <p14:creationId xmlns:p14="http://schemas.microsoft.com/office/powerpoint/2010/main" val="385652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7B1DB664-8FE3-AC42-BEBE-C3663D08BD50}"/>
              </a:ext>
            </a:extLst>
          </p:cNvPr>
          <p:cNvGrpSpPr/>
          <p:nvPr/>
        </p:nvGrpSpPr>
        <p:grpSpPr>
          <a:xfrm>
            <a:off x="1083724" y="887859"/>
            <a:ext cx="843147" cy="2323123"/>
            <a:chOff x="6338159" y="2119567"/>
            <a:chExt cx="1238250" cy="3143965"/>
          </a:xfrm>
          <a:scene3d>
            <a:camera prst="orthographicFront"/>
            <a:lightRig rig="freezing" dir="t"/>
          </a:scene3d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D8F9AF4-A992-5049-B55F-DE81F90F71AA}"/>
                </a:ext>
              </a:extLst>
            </p:cNvPr>
            <p:cNvGrpSpPr/>
            <p:nvPr/>
          </p:nvGrpSpPr>
          <p:grpSpPr>
            <a:xfrm>
              <a:off x="6338159" y="2119567"/>
              <a:ext cx="1238250" cy="3143965"/>
              <a:chOff x="9547588" y="2933700"/>
              <a:chExt cx="1238250" cy="314396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948858-27A2-114A-8EC8-A4E6A9F80813}"/>
                  </a:ext>
                </a:extLst>
              </p:cNvPr>
              <p:cNvSpPr/>
              <p:nvPr/>
            </p:nvSpPr>
            <p:spPr>
              <a:xfrm>
                <a:off x="9728562" y="2933700"/>
                <a:ext cx="876300" cy="8382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sp>
            <p:nvSpPr>
              <p:cNvPr id="51" name="Chord 50">
                <a:extLst>
                  <a:ext uri="{FF2B5EF4-FFF2-40B4-BE49-F238E27FC236}">
                    <a16:creationId xmlns:a16="http://schemas.microsoft.com/office/drawing/2014/main" id="{174A1784-9F8C-9F45-9559-B70B3DE49988}"/>
                  </a:ext>
                </a:extLst>
              </p:cNvPr>
              <p:cNvSpPr/>
              <p:nvPr/>
            </p:nvSpPr>
            <p:spPr>
              <a:xfrm rot="5572581">
                <a:off x="9028647" y="4320475"/>
                <a:ext cx="2276131" cy="123825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9C03EEE-323D-B742-A028-8BE0FC6F4D82}"/>
                  </a:ext>
                </a:extLst>
              </p:cNvPr>
              <p:cNvGrpSpPr/>
              <p:nvPr/>
            </p:nvGrpSpPr>
            <p:grpSpPr>
              <a:xfrm>
                <a:off x="10052050" y="3790949"/>
                <a:ext cx="304800" cy="946988"/>
                <a:chOff x="14116050" y="4057648"/>
                <a:chExt cx="304800" cy="946988"/>
              </a:xfrm>
            </p:grpSpPr>
            <p:sp>
              <p:nvSpPr>
                <p:cNvPr id="60" name="Triangle 59">
                  <a:extLst>
                    <a:ext uri="{FF2B5EF4-FFF2-40B4-BE49-F238E27FC236}">
                      <a16:creationId xmlns:a16="http://schemas.microsoft.com/office/drawing/2014/main" id="{9B7FE1DF-C402-074F-BD2F-FDD98931A62C}"/>
                    </a:ext>
                  </a:extLst>
                </p:cNvPr>
                <p:cNvSpPr/>
                <p:nvPr/>
              </p:nvSpPr>
              <p:spPr>
                <a:xfrm rot="10582158">
                  <a:off x="14116050" y="4057648"/>
                  <a:ext cx="304800" cy="247652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  <p:sp>
              <p:nvSpPr>
                <p:cNvPr id="61" name="Snip Diagonal Corner Rectangle 60">
                  <a:extLst>
                    <a:ext uri="{FF2B5EF4-FFF2-40B4-BE49-F238E27FC236}">
                      <a16:creationId xmlns:a16="http://schemas.microsoft.com/office/drawing/2014/main" id="{BE807AA3-275D-6147-A6F0-32D524A50B1D}"/>
                    </a:ext>
                  </a:extLst>
                </p:cNvPr>
                <p:cNvSpPr/>
                <p:nvPr/>
              </p:nvSpPr>
              <p:spPr>
                <a:xfrm>
                  <a:off x="14185622" y="4314703"/>
                  <a:ext cx="169144" cy="689933"/>
                </a:xfrm>
                <a:prstGeom prst="snip2Diag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</p:grpSp>
        </p:grpSp>
        <p:sp>
          <p:nvSpPr>
            <p:cNvPr id="46" name="Triangle 45">
              <a:extLst>
                <a:ext uri="{FF2B5EF4-FFF2-40B4-BE49-F238E27FC236}">
                  <a16:creationId xmlns:a16="http://schemas.microsoft.com/office/drawing/2014/main" id="{CA621B0D-12DB-FC42-B1F0-FF4CFFF0E789}"/>
                </a:ext>
              </a:extLst>
            </p:cNvPr>
            <p:cNvSpPr/>
            <p:nvPr/>
          </p:nvSpPr>
          <p:spPr>
            <a:xfrm rot="9681471">
              <a:off x="6773681" y="3145891"/>
              <a:ext cx="225209" cy="988095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7" name="Triangle 46">
              <a:extLst>
                <a:ext uri="{FF2B5EF4-FFF2-40B4-BE49-F238E27FC236}">
                  <a16:creationId xmlns:a16="http://schemas.microsoft.com/office/drawing/2014/main" id="{BD4015BC-9CCD-2749-ABCD-CCE6985CDA31}"/>
                </a:ext>
              </a:extLst>
            </p:cNvPr>
            <p:cNvSpPr/>
            <p:nvPr/>
          </p:nvSpPr>
          <p:spPr>
            <a:xfrm rot="11398682">
              <a:off x="7060686" y="3138504"/>
              <a:ext cx="170259" cy="925818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9" name="Diagonal Stripe 48">
              <a:extLst>
                <a:ext uri="{FF2B5EF4-FFF2-40B4-BE49-F238E27FC236}">
                  <a16:creationId xmlns:a16="http://schemas.microsoft.com/office/drawing/2014/main" id="{3920BE55-66F9-1549-AB39-76DCE0576783}"/>
                </a:ext>
              </a:extLst>
            </p:cNvPr>
            <p:cNvSpPr/>
            <p:nvPr/>
          </p:nvSpPr>
          <p:spPr>
            <a:xfrm rot="2425840">
              <a:off x="6876000" y="2627071"/>
              <a:ext cx="257175" cy="220880"/>
            </a:xfrm>
            <a:prstGeom prst="diagStrip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A78A9C-137F-A849-9090-AF4932741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144020"/>
              </p:ext>
            </p:extLst>
          </p:nvPr>
        </p:nvGraphicFramePr>
        <p:xfrm>
          <a:off x="1042054" y="3362927"/>
          <a:ext cx="17640411" cy="622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2694">
                  <a:extLst>
                    <a:ext uri="{9D8B030D-6E8A-4147-A177-3AD203B41FA5}">
                      <a16:colId xmlns:a16="http://schemas.microsoft.com/office/drawing/2014/main" val="238471029"/>
                    </a:ext>
                  </a:extLst>
                </a:gridCol>
                <a:gridCol w="10677717">
                  <a:extLst>
                    <a:ext uri="{9D8B030D-6E8A-4147-A177-3AD203B41FA5}">
                      <a16:colId xmlns:a16="http://schemas.microsoft.com/office/drawing/2014/main" val="1584254929"/>
                    </a:ext>
                  </a:extLst>
                </a:gridCol>
              </a:tblGrid>
              <a:tr h="783533">
                <a:tc gridSpan="2">
                  <a:txBody>
                    <a:bodyPr/>
                    <a:lstStyle/>
                    <a:p>
                      <a:pPr algn="ctr"/>
                      <a:r>
                        <a:rPr lang="en-CO" sz="2400" dirty="0"/>
                        <a:t>Restricciones  de negocio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29685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Descripción de la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dirty="0"/>
                        <a:t>El diseño de la arquitectura debe darse en 4 meses, incluidas pruebas de concepto y experimentos.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6990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Usuario que expresa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Dirección</a:t>
                      </a:r>
                      <a:r>
                        <a:rPr lang="en-US" dirty="0"/>
                        <a:t> general</a:t>
                      </a:r>
                      <a:r>
                        <a:rPr lang="en-CO" dirty="0"/>
                        <a:t> que define plazos y recursos.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310766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Justificación para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dirty="0"/>
                        <a:t>Se requiere validar la arquitectura en un plazo corto para dar inicio al desarrollo lo más pronto posible y no perjudicar las estimaciones planteadas de los próximos 4 años.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9445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Cómo considera que pueda afectar la arquitectura del sistema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dirty="0"/>
                        <a:t>Este plazo obliga a una menor cantidad de iteraciones en el diseño de la arquitectura y por tanto menos cantidad de experimentos y validaciones. Prioriza escoger estilos y patrones bien conocidos sin tanta cabida a la experimentación de funcionalidades complejas y sus requisitos de calidad.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814994"/>
                  </a:ext>
                </a:extLst>
              </a:tr>
            </a:tbl>
          </a:graphicData>
        </a:graphic>
      </p:graphicFrame>
      <p:sp>
        <p:nvSpPr>
          <p:cNvPr id="15" name="Pentagon 14">
            <a:extLst>
              <a:ext uri="{FF2B5EF4-FFF2-40B4-BE49-F238E27FC236}">
                <a16:creationId xmlns:a16="http://schemas.microsoft.com/office/drawing/2014/main" id="{7CA5739A-9219-4D4B-934B-7F23A33D8947}"/>
              </a:ext>
            </a:extLst>
          </p:cNvPr>
          <p:cNvSpPr/>
          <p:nvPr/>
        </p:nvSpPr>
        <p:spPr>
          <a:xfrm>
            <a:off x="2827114" y="849088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Restricciones de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6943C0-DBF2-D842-99B5-D74377BBA61A}"/>
              </a:ext>
            </a:extLst>
          </p:cNvPr>
          <p:cNvSpPr txBox="1"/>
          <p:nvPr/>
        </p:nvSpPr>
        <p:spPr>
          <a:xfrm>
            <a:off x="2827114" y="2139897"/>
            <a:ext cx="15802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000" dirty="0">
                <a:solidFill>
                  <a:schemeClr val="accent1"/>
                </a:solidFill>
              </a:rPr>
              <a:t>A partir del enunciado del proyecto, identifique restricciones de negocio que puedan servir como entrada al proceso de diseño</a:t>
            </a:r>
          </a:p>
        </p:txBody>
      </p:sp>
    </p:spTree>
    <p:extLst>
      <p:ext uri="{BB962C8B-B14F-4D97-AF65-F5344CB8AC3E}">
        <p14:creationId xmlns:p14="http://schemas.microsoft.com/office/powerpoint/2010/main" val="50397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7B1DB664-8FE3-AC42-BEBE-C3663D08BD50}"/>
              </a:ext>
            </a:extLst>
          </p:cNvPr>
          <p:cNvGrpSpPr/>
          <p:nvPr/>
        </p:nvGrpSpPr>
        <p:grpSpPr>
          <a:xfrm>
            <a:off x="1083724" y="887859"/>
            <a:ext cx="843147" cy="2323123"/>
            <a:chOff x="6338159" y="2119567"/>
            <a:chExt cx="1238250" cy="3143965"/>
          </a:xfrm>
          <a:scene3d>
            <a:camera prst="orthographicFront"/>
            <a:lightRig rig="freezing" dir="t"/>
          </a:scene3d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D8F9AF4-A992-5049-B55F-DE81F90F71AA}"/>
                </a:ext>
              </a:extLst>
            </p:cNvPr>
            <p:cNvGrpSpPr/>
            <p:nvPr/>
          </p:nvGrpSpPr>
          <p:grpSpPr>
            <a:xfrm>
              <a:off x="6338159" y="2119567"/>
              <a:ext cx="1238250" cy="3143965"/>
              <a:chOff x="9547588" y="2933700"/>
              <a:chExt cx="1238250" cy="314396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948858-27A2-114A-8EC8-A4E6A9F80813}"/>
                  </a:ext>
                </a:extLst>
              </p:cNvPr>
              <p:cNvSpPr/>
              <p:nvPr/>
            </p:nvSpPr>
            <p:spPr>
              <a:xfrm>
                <a:off x="9728562" y="2933700"/>
                <a:ext cx="876300" cy="8382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sp>
            <p:nvSpPr>
              <p:cNvPr id="51" name="Chord 50">
                <a:extLst>
                  <a:ext uri="{FF2B5EF4-FFF2-40B4-BE49-F238E27FC236}">
                    <a16:creationId xmlns:a16="http://schemas.microsoft.com/office/drawing/2014/main" id="{174A1784-9F8C-9F45-9559-B70B3DE49988}"/>
                  </a:ext>
                </a:extLst>
              </p:cNvPr>
              <p:cNvSpPr/>
              <p:nvPr/>
            </p:nvSpPr>
            <p:spPr>
              <a:xfrm rot="5572581">
                <a:off x="9028647" y="4320475"/>
                <a:ext cx="2276131" cy="123825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9C03EEE-323D-B742-A028-8BE0FC6F4D82}"/>
                  </a:ext>
                </a:extLst>
              </p:cNvPr>
              <p:cNvGrpSpPr/>
              <p:nvPr/>
            </p:nvGrpSpPr>
            <p:grpSpPr>
              <a:xfrm>
                <a:off x="10052050" y="3790949"/>
                <a:ext cx="304800" cy="946988"/>
                <a:chOff x="14116050" y="4057648"/>
                <a:chExt cx="304800" cy="946988"/>
              </a:xfrm>
            </p:grpSpPr>
            <p:sp>
              <p:nvSpPr>
                <p:cNvPr id="60" name="Triangle 59">
                  <a:extLst>
                    <a:ext uri="{FF2B5EF4-FFF2-40B4-BE49-F238E27FC236}">
                      <a16:creationId xmlns:a16="http://schemas.microsoft.com/office/drawing/2014/main" id="{9B7FE1DF-C402-074F-BD2F-FDD98931A62C}"/>
                    </a:ext>
                  </a:extLst>
                </p:cNvPr>
                <p:cNvSpPr/>
                <p:nvPr/>
              </p:nvSpPr>
              <p:spPr>
                <a:xfrm rot="10582158">
                  <a:off x="14116050" y="4057648"/>
                  <a:ext cx="304800" cy="247652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  <p:sp>
              <p:nvSpPr>
                <p:cNvPr id="61" name="Snip Diagonal Corner Rectangle 60">
                  <a:extLst>
                    <a:ext uri="{FF2B5EF4-FFF2-40B4-BE49-F238E27FC236}">
                      <a16:creationId xmlns:a16="http://schemas.microsoft.com/office/drawing/2014/main" id="{BE807AA3-275D-6147-A6F0-32D524A50B1D}"/>
                    </a:ext>
                  </a:extLst>
                </p:cNvPr>
                <p:cNvSpPr/>
                <p:nvPr/>
              </p:nvSpPr>
              <p:spPr>
                <a:xfrm>
                  <a:off x="14185622" y="4314703"/>
                  <a:ext cx="169144" cy="689933"/>
                </a:xfrm>
                <a:prstGeom prst="snip2Diag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</p:grpSp>
        </p:grpSp>
        <p:sp>
          <p:nvSpPr>
            <p:cNvPr id="46" name="Triangle 45">
              <a:extLst>
                <a:ext uri="{FF2B5EF4-FFF2-40B4-BE49-F238E27FC236}">
                  <a16:creationId xmlns:a16="http://schemas.microsoft.com/office/drawing/2014/main" id="{CA621B0D-12DB-FC42-B1F0-FF4CFFF0E789}"/>
                </a:ext>
              </a:extLst>
            </p:cNvPr>
            <p:cNvSpPr/>
            <p:nvPr/>
          </p:nvSpPr>
          <p:spPr>
            <a:xfrm rot="9681471">
              <a:off x="6773681" y="3145891"/>
              <a:ext cx="225209" cy="988095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7" name="Triangle 46">
              <a:extLst>
                <a:ext uri="{FF2B5EF4-FFF2-40B4-BE49-F238E27FC236}">
                  <a16:creationId xmlns:a16="http://schemas.microsoft.com/office/drawing/2014/main" id="{BD4015BC-9CCD-2749-ABCD-CCE6985CDA31}"/>
                </a:ext>
              </a:extLst>
            </p:cNvPr>
            <p:cNvSpPr/>
            <p:nvPr/>
          </p:nvSpPr>
          <p:spPr>
            <a:xfrm rot="11398682">
              <a:off x="7060686" y="3138504"/>
              <a:ext cx="170259" cy="925818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9" name="Diagonal Stripe 48">
              <a:extLst>
                <a:ext uri="{FF2B5EF4-FFF2-40B4-BE49-F238E27FC236}">
                  <a16:creationId xmlns:a16="http://schemas.microsoft.com/office/drawing/2014/main" id="{3920BE55-66F9-1549-AB39-76DCE0576783}"/>
                </a:ext>
              </a:extLst>
            </p:cNvPr>
            <p:cNvSpPr/>
            <p:nvPr/>
          </p:nvSpPr>
          <p:spPr>
            <a:xfrm rot="2425840">
              <a:off x="6876000" y="2627071"/>
              <a:ext cx="257175" cy="220880"/>
            </a:xfrm>
            <a:prstGeom prst="diagStrip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A78A9C-137F-A849-9090-AF4932741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38140"/>
              </p:ext>
            </p:extLst>
          </p:nvPr>
        </p:nvGraphicFramePr>
        <p:xfrm>
          <a:off x="1042054" y="3362927"/>
          <a:ext cx="17640411" cy="622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2694">
                  <a:extLst>
                    <a:ext uri="{9D8B030D-6E8A-4147-A177-3AD203B41FA5}">
                      <a16:colId xmlns:a16="http://schemas.microsoft.com/office/drawing/2014/main" val="238471029"/>
                    </a:ext>
                  </a:extLst>
                </a:gridCol>
                <a:gridCol w="10677717">
                  <a:extLst>
                    <a:ext uri="{9D8B030D-6E8A-4147-A177-3AD203B41FA5}">
                      <a16:colId xmlns:a16="http://schemas.microsoft.com/office/drawing/2014/main" val="1584254929"/>
                    </a:ext>
                  </a:extLst>
                </a:gridCol>
              </a:tblGrid>
              <a:tr h="783533">
                <a:tc gridSpan="2">
                  <a:txBody>
                    <a:bodyPr/>
                    <a:lstStyle/>
                    <a:p>
                      <a:pPr algn="ctr"/>
                      <a:r>
                        <a:rPr lang="en-CO" sz="2400" dirty="0"/>
                        <a:t>Restricciones  de negocio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29685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Descripción de la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Luego del diseño de la arquitectura, la primera versión de la aplicación debe darse en 8 meses, implementando las funcionalidades más relevantes en el portal web y app móvil.</a:t>
                      </a:r>
                      <a:endParaRPr lang="en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6990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Usuario que expresa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Dirección</a:t>
                      </a:r>
                      <a:r>
                        <a:rPr lang="en-US" dirty="0"/>
                        <a:t> general que define </a:t>
                      </a:r>
                      <a:r>
                        <a:rPr lang="en-US" dirty="0" err="1"/>
                        <a:t>plazos</a:t>
                      </a:r>
                      <a:r>
                        <a:rPr lang="en-US" dirty="0"/>
                        <a:t> y </a:t>
                      </a:r>
                      <a:r>
                        <a:rPr lang="en-US" dirty="0" err="1"/>
                        <a:t>recursos</a:t>
                      </a:r>
                      <a:r>
                        <a:rPr lang="en-US" dirty="0"/>
                        <a:t>.</a:t>
                      </a:r>
                      <a:endParaRPr lang="en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310766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Justificación para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dirty="0"/>
                        <a:t>Se requiere desarrollar la aplicación en su primera versión en menos de un año para impactar el volumen de pedidos al siguiente año y no perder los indicadores establecidos.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9445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Cómo considera que pueda afectar la arquitectura del sistema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dirty="0"/>
                        <a:t>Prioriza funcionalidades críticas del sistema, escogencia de patrones bien conocidos y no tan complejos. Demanda una arquitectura modificable para incluir rápidamente en el futuro nuevos cambios.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814994"/>
                  </a:ext>
                </a:extLst>
              </a:tr>
            </a:tbl>
          </a:graphicData>
        </a:graphic>
      </p:graphicFrame>
      <p:sp>
        <p:nvSpPr>
          <p:cNvPr id="15" name="Pentagon 14">
            <a:extLst>
              <a:ext uri="{FF2B5EF4-FFF2-40B4-BE49-F238E27FC236}">
                <a16:creationId xmlns:a16="http://schemas.microsoft.com/office/drawing/2014/main" id="{7CA5739A-9219-4D4B-934B-7F23A33D8947}"/>
              </a:ext>
            </a:extLst>
          </p:cNvPr>
          <p:cNvSpPr/>
          <p:nvPr/>
        </p:nvSpPr>
        <p:spPr>
          <a:xfrm>
            <a:off x="2827114" y="849088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Restricciones de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6943C0-DBF2-D842-99B5-D74377BBA61A}"/>
              </a:ext>
            </a:extLst>
          </p:cNvPr>
          <p:cNvSpPr txBox="1"/>
          <p:nvPr/>
        </p:nvSpPr>
        <p:spPr>
          <a:xfrm>
            <a:off x="2827114" y="2139897"/>
            <a:ext cx="15802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000" dirty="0">
                <a:solidFill>
                  <a:schemeClr val="accent1"/>
                </a:solidFill>
              </a:rPr>
              <a:t>A partir del enunciado del proyecto, identifique restricciones de negocio que puedan servir como entrada al proceso de diseño</a:t>
            </a:r>
          </a:p>
        </p:txBody>
      </p:sp>
    </p:spTree>
    <p:extLst>
      <p:ext uri="{BB962C8B-B14F-4D97-AF65-F5344CB8AC3E}">
        <p14:creationId xmlns:p14="http://schemas.microsoft.com/office/powerpoint/2010/main" val="79979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7B1DB664-8FE3-AC42-BEBE-C3663D08BD50}"/>
              </a:ext>
            </a:extLst>
          </p:cNvPr>
          <p:cNvGrpSpPr/>
          <p:nvPr/>
        </p:nvGrpSpPr>
        <p:grpSpPr>
          <a:xfrm>
            <a:off x="1083724" y="887859"/>
            <a:ext cx="843147" cy="2323123"/>
            <a:chOff x="6338159" y="2119567"/>
            <a:chExt cx="1238250" cy="3143965"/>
          </a:xfrm>
          <a:scene3d>
            <a:camera prst="orthographicFront"/>
            <a:lightRig rig="freezing" dir="t"/>
          </a:scene3d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D8F9AF4-A992-5049-B55F-DE81F90F71AA}"/>
                </a:ext>
              </a:extLst>
            </p:cNvPr>
            <p:cNvGrpSpPr/>
            <p:nvPr/>
          </p:nvGrpSpPr>
          <p:grpSpPr>
            <a:xfrm>
              <a:off x="6338159" y="2119567"/>
              <a:ext cx="1238250" cy="3143965"/>
              <a:chOff x="9547588" y="2933700"/>
              <a:chExt cx="1238250" cy="314396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948858-27A2-114A-8EC8-A4E6A9F80813}"/>
                  </a:ext>
                </a:extLst>
              </p:cNvPr>
              <p:cNvSpPr/>
              <p:nvPr/>
            </p:nvSpPr>
            <p:spPr>
              <a:xfrm>
                <a:off x="9728562" y="2933700"/>
                <a:ext cx="876300" cy="8382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sp>
            <p:nvSpPr>
              <p:cNvPr id="51" name="Chord 50">
                <a:extLst>
                  <a:ext uri="{FF2B5EF4-FFF2-40B4-BE49-F238E27FC236}">
                    <a16:creationId xmlns:a16="http://schemas.microsoft.com/office/drawing/2014/main" id="{174A1784-9F8C-9F45-9559-B70B3DE49988}"/>
                  </a:ext>
                </a:extLst>
              </p:cNvPr>
              <p:cNvSpPr/>
              <p:nvPr/>
            </p:nvSpPr>
            <p:spPr>
              <a:xfrm rot="5572581">
                <a:off x="9028647" y="4320475"/>
                <a:ext cx="2276131" cy="123825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9C03EEE-323D-B742-A028-8BE0FC6F4D82}"/>
                  </a:ext>
                </a:extLst>
              </p:cNvPr>
              <p:cNvGrpSpPr/>
              <p:nvPr/>
            </p:nvGrpSpPr>
            <p:grpSpPr>
              <a:xfrm>
                <a:off x="10052050" y="3790949"/>
                <a:ext cx="304800" cy="946988"/>
                <a:chOff x="14116050" y="4057648"/>
                <a:chExt cx="304800" cy="946988"/>
              </a:xfrm>
            </p:grpSpPr>
            <p:sp>
              <p:nvSpPr>
                <p:cNvPr id="60" name="Triangle 59">
                  <a:extLst>
                    <a:ext uri="{FF2B5EF4-FFF2-40B4-BE49-F238E27FC236}">
                      <a16:creationId xmlns:a16="http://schemas.microsoft.com/office/drawing/2014/main" id="{9B7FE1DF-C402-074F-BD2F-FDD98931A62C}"/>
                    </a:ext>
                  </a:extLst>
                </p:cNvPr>
                <p:cNvSpPr/>
                <p:nvPr/>
              </p:nvSpPr>
              <p:spPr>
                <a:xfrm rot="10582158">
                  <a:off x="14116050" y="4057648"/>
                  <a:ext cx="304800" cy="247652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  <p:sp>
              <p:nvSpPr>
                <p:cNvPr id="61" name="Snip Diagonal Corner Rectangle 60">
                  <a:extLst>
                    <a:ext uri="{FF2B5EF4-FFF2-40B4-BE49-F238E27FC236}">
                      <a16:creationId xmlns:a16="http://schemas.microsoft.com/office/drawing/2014/main" id="{BE807AA3-275D-6147-A6F0-32D524A50B1D}"/>
                    </a:ext>
                  </a:extLst>
                </p:cNvPr>
                <p:cNvSpPr/>
                <p:nvPr/>
              </p:nvSpPr>
              <p:spPr>
                <a:xfrm>
                  <a:off x="14185622" y="4314703"/>
                  <a:ext cx="169144" cy="689933"/>
                </a:xfrm>
                <a:prstGeom prst="snip2Diag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</p:grpSp>
        </p:grpSp>
        <p:sp>
          <p:nvSpPr>
            <p:cNvPr id="46" name="Triangle 45">
              <a:extLst>
                <a:ext uri="{FF2B5EF4-FFF2-40B4-BE49-F238E27FC236}">
                  <a16:creationId xmlns:a16="http://schemas.microsoft.com/office/drawing/2014/main" id="{CA621B0D-12DB-FC42-B1F0-FF4CFFF0E789}"/>
                </a:ext>
              </a:extLst>
            </p:cNvPr>
            <p:cNvSpPr/>
            <p:nvPr/>
          </p:nvSpPr>
          <p:spPr>
            <a:xfrm rot="9681471">
              <a:off x="6773681" y="3145891"/>
              <a:ext cx="225209" cy="988095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7" name="Triangle 46">
              <a:extLst>
                <a:ext uri="{FF2B5EF4-FFF2-40B4-BE49-F238E27FC236}">
                  <a16:creationId xmlns:a16="http://schemas.microsoft.com/office/drawing/2014/main" id="{BD4015BC-9CCD-2749-ABCD-CCE6985CDA31}"/>
                </a:ext>
              </a:extLst>
            </p:cNvPr>
            <p:cNvSpPr/>
            <p:nvPr/>
          </p:nvSpPr>
          <p:spPr>
            <a:xfrm rot="11398682">
              <a:off x="7060686" y="3138504"/>
              <a:ext cx="170259" cy="925818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9" name="Diagonal Stripe 48">
              <a:extLst>
                <a:ext uri="{FF2B5EF4-FFF2-40B4-BE49-F238E27FC236}">
                  <a16:creationId xmlns:a16="http://schemas.microsoft.com/office/drawing/2014/main" id="{3920BE55-66F9-1549-AB39-76DCE0576783}"/>
                </a:ext>
              </a:extLst>
            </p:cNvPr>
            <p:cNvSpPr/>
            <p:nvPr/>
          </p:nvSpPr>
          <p:spPr>
            <a:xfrm rot="2425840">
              <a:off x="6876000" y="2627071"/>
              <a:ext cx="257175" cy="220880"/>
            </a:xfrm>
            <a:prstGeom prst="diagStrip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A78A9C-137F-A849-9090-AF4932741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353767"/>
              </p:ext>
            </p:extLst>
          </p:nvPr>
        </p:nvGraphicFramePr>
        <p:xfrm>
          <a:off x="1042054" y="3362927"/>
          <a:ext cx="17640411" cy="4431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2694">
                  <a:extLst>
                    <a:ext uri="{9D8B030D-6E8A-4147-A177-3AD203B41FA5}">
                      <a16:colId xmlns:a16="http://schemas.microsoft.com/office/drawing/2014/main" val="238471029"/>
                    </a:ext>
                  </a:extLst>
                </a:gridCol>
                <a:gridCol w="10677717">
                  <a:extLst>
                    <a:ext uri="{9D8B030D-6E8A-4147-A177-3AD203B41FA5}">
                      <a16:colId xmlns:a16="http://schemas.microsoft.com/office/drawing/2014/main" val="1584254929"/>
                    </a:ext>
                  </a:extLst>
                </a:gridCol>
              </a:tblGrid>
              <a:tr h="783533">
                <a:tc gridSpan="2">
                  <a:txBody>
                    <a:bodyPr/>
                    <a:lstStyle/>
                    <a:p>
                      <a:pPr algn="ctr"/>
                      <a:r>
                        <a:rPr lang="en-CO" sz="2400" dirty="0"/>
                        <a:t>Restricciones  de tecnología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29685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Descripción de la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 </a:t>
                      </a:r>
                      <a:r>
                        <a:rPr lang="en-US" dirty="0" err="1"/>
                        <a:t>tecnología</a:t>
                      </a:r>
                      <a:r>
                        <a:rPr lang="en-US" dirty="0"/>
                        <a:t> para </a:t>
                      </a:r>
                      <a:r>
                        <a:rPr lang="en-US" dirty="0" err="1"/>
                        <a:t>implementar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el</a:t>
                      </a:r>
                      <a:r>
                        <a:rPr lang="en-US" dirty="0"/>
                        <a:t> </a:t>
                      </a:r>
                      <a:r>
                        <a:rPr lang="en-US"/>
                        <a:t>producto </a:t>
                      </a:r>
                      <a:r>
                        <a:rPr lang="en-US" dirty="0" err="1"/>
                        <a:t>debe</a:t>
                      </a:r>
                      <a:r>
                        <a:rPr lang="en-US" dirty="0"/>
                        <a:t> ser Python.</a:t>
                      </a:r>
                      <a:endParaRPr lang="en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6990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Usuario que expresa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Dirección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tecnología</a:t>
                      </a:r>
                      <a:r>
                        <a:rPr lang="en-US" dirty="0"/>
                        <a:t>.</a:t>
                      </a:r>
                      <a:endParaRPr lang="en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310766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Justificación para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dirty="0"/>
                        <a:t>El equipo de tecnología domina Python para soportes futuros, se busca establecer un stack tecnológico en la organización.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9445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Cómo considera que pueda afectar la arquitectura del sistema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dirty="0"/>
                        <a:t>El uso de Python puede afectar el performance ya que es un lenguaje interpretado.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814994"/>
                  </a:ext>
                </a:extLst>
              </a:tr>
            </a:tbl>
          </a:graphicData>
        </a:graphic>
      </p:graphicFrame>
      <p:sp>
        <p:nvSpPr>
          <p:cNvPr id="15" name="Pentagon 14">
            <a:extLst>
              <a:ext uri="{FF2B5EF4-FFF2-40B4-BE49-F238E27FC236}">
                <a16:creationId xmlns:a16="http://schemas.microsoft.com/office/drawing/2014/main" id="{7CA5739A-9219-4D4B-934B-7F23A33D8947}"/>
              </a:ext>
            </a:extLst>
          </p:cNvPr>
          <p:cNvSpPr/>
          <p:nvPr/>
        </p:nvSpPr>
        <p:spPr>
          <a:xfrm>
            <a:off x="2827114" y="849088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Restricciones de Tecnología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6943C0-DBF2-D842-99B5-D74377BBA61A}"/>
              </a:ext>
            </a:extLst>
          </p:cNvPr>
          <p:cNvSpPr txBox="1"/>
          <p:nvPr/>
        </p:nvSpPr>
        <p:spPr>
          <a:xfrm>
            <a:off x="2827114" y="2139897"/>
            <a:ext cx="15802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000" dirty="0">
                <a:solidFill>
                  <a:schemeClr val="accent1"/>
                </a:solidFill>
              </a:rPr>
              <a:t>A partir del enunciado del proyecto, identifique restricciones de negocio que puedan servir como entrada al proceso de diseño</a:t>
            </a:r>
          </a:p>
        </p:txBody>
      </p:sp>
    </p:spTree>
    <p:extLst>
      <p:ext uri="{BB962C8B-B14F-4D97-AF65-F5344CB8AC3E}">
        <p14:creationId xmlns:p14="http://schemas.microsoft.com/office/powerpoint/2010/main" val="1291965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7B1DB664-8FE3-AC42-BEBE-C3663D08BD50}"/>
              </a:ext>
            </a:extLst>
          </p:cNvPr>
          <p:cNvGrpSpPr/>
          <p:nvPr/>
        </p:nvGrpSpPr>
        <p:grpSpPr>
          <a:xfrm>
            <a:off x="1083724" y="887859"/>
            <a:ext cx="843147" cy="2323123"/>
            <a:chOff x="6338159" y="2119567"/>
            <a:chExt cx="1238250" cy="3143965"/>
          </a:xfrm>
          <a:scene3d>
            <a:camera prst="orthographicFront"/>
            <a:lightRig rig="freezing" dir="t"/>
          </a:scene3d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D8F9AF4-A992-5049-B55F-DE81F90F71AA}"/>
                </a:ext>
              </a:extLst>
            </p:cNvPr>
            <p:cNvGrpSpPr/>
            <p:nvPr/>
          </p:nvGrpSpPr>
          <p:grpSpPr>
            <a:xfrm>
              <a:off x="6338159" y="2119567"/>
              <a:ext cx="1238250" cy="3143965"/>
              <a:chOff x="9547588" y="2933700"/>
              <a:chExt cx="1238250" cy="314396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948858-27A2-114A-8EC8-A4E6A9F80813}"/>
                  </a:ext>
                </a:extLst>
              </p:cNvPr>
              <p:cNvSpPr/>
              <p:nvPr/>
            </p:nvSpPr>
            <p:spPr>
              <a:xfrm>
                <a:off x="9728562" y="2933700"/>
                <a:ext cx="876300" cy="8382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sp>
            <p:nvSpPr>
              <p:cNvPr id="51" name="Chord 50">
                <a:extLst>
                  <a:ext uri="{FF2B5EF4-FFF2-40B4-BE49-F238E27FC236}">
                    <a16:creationId xmlns:a16="http://schemas.microsoft.com/office/drawing/2014/main" id="{174A1784-9F8C-9F45-9559-B70B3DE49988}"/>
                  </a:ext>
                </a:extLst>
              </p:cNvPr>
              <p:cNvSpPr/>
              <p:nvPr/>
            </p:nvSpPr>
            <p:spPr>
              <a:xfrm rot="5572581">
                <a:off x="9028647" y="4320475"/>
                <a:ext cx="2276131" cy="123825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O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9C03EEE-323D-B742-A028-8BE0FC6F4D82}"/>
                  </a:ext>
                </a:extLst>
              </p:cNvPr>
              <p:cNvGrpSpPr/>
              <p:nvPr/>
            </p:nvGrpSpPr>
            <p:grpSpPr>
              <a:xfrm>
                <a:off x="10052050" y="3790949"/>
                <a:ext cx="304800" cy="946988"/>
                <a:chOff x="14116050" y="4057648"/>
                <a:chExt cx="304800" cy="946988"/>
              </a:xfrm>
            </p:grpSpPr>
            <p:sp>
              <p:nvSpPr>
                <p:cNvPr id="60" name="Triangle 59">
                  <a:extLst>
                    <a:ext uri="{FF2B5EF4-FFF2-40B4-BE49-F238E27FC236}">
                      <a16:creationId xmlns:a16="http://schemas.microsoft.com/office/drawing/2014/main" id="{9B7FE1DF-C402-074F-BD2F-FDD98931A62C}"/>
                    </a:ext>
                  </a:extLst>
                </p:cNvPr>
                <p:cNvSpPr/>
                <p:nvPr/>
              </p:nvSpPr>
              <p:spPr>
                <a:xfrm rot="10582158">
                  <a:off x="14116050" y="4057648"/>
                  <a:ext cx="304800" cy="247652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  <p:sp>
              <p:nvSpPr>
                <p:cNvPr id="61" name="Snip Diagonal Corner Rectangle 60">
                  <a:extLst>
                    <a:ext uri="{FF2B5EF4-FFF2-40B4-BE49-F238E27FC236}">
                      <a16:creationId xmlns:a16="http://schemas.microsoft.com/office/drawing/2014/main" id="{BE807AA3-275D-6147-A6F0-32D524A50B1D}"/>
                    </a:ext>
                  </a:extLst>
                </p:cNvPr>
                <p:cNvSpPr/>
                <p:nvPr/>
              </p:nvSpPr>
              <p:spPr>
                <a:xfrm>
                  <a:off x="14185622" y="4314703"/>
                  <a:ext cx="169144" cy="689933"/>
                </a:xfrm>
                <a:prstGeom prst="snip2Diag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O"/>
                </a:p>
              </p:txBody>
            </p:sp>
          </p:grpSp>
        </p:grpSp>
        <p:sp>
          <p:nvSpPr>
            <p:cNvPr id="46" name="Triangle 45">
              <a:extLst>
                <a:ext uri="{FF2B5EF4-FFF2-40B4-BE49-F238E27FC236}">
                  <a16:creationId xmlns:a16="http://schemas.microsoft.com/office/drawing/2014/main" id="{CA621B0D-12DB-FC42-B1F0-FF4CFFF0E789}"/>
                </a:ext>
              </a:extLst>
            </p:cNvPr>
            <p:cNvSpPr/>
            <p:nvPr/>
          </p:nvSpPr>
          <p:spPr>
            <a:xfrm rot="9681471">
              <a:off x="6773681" y="3145891"/>
              <a:ext cx="225209" cy="988095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7" name="Triangle 46">
              <a:extLst>
                <a:ext uri="{FF2B5EF4-FFF2-40B4-BE49-F238E27FC236}">
                  <a16:creationId xmlns:a16="http://schemas.microsoft.com/office/drawing/2014/main" id="{BD4015BC-9CCD-2749-ABCD-CCE6985CDA31}"/>
                </a:ext>
              </a:extLst>
            </p:cNvPr>
            <p:cNvSpPr/>
            <p:nvPr/>
          </p:nvSpPr>
          <p:spPr>
            <a:xfrm rot="11398682">
              <a:off x="7060686" y="3138504"/>
              <a:ext cx="170259" cy="925818"/>
            </a:xfrm>
            <a:prstGeom prst="triangl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49" name="Diagonal Stripe 48">
              <a:extLst>
                <a:ext uri="{FF2B5EF4-FFF2-40B4-BE49-F238E27FC236}">
                  <a16:creationId xmlns:a16="http://schemas.microsoft.com/office/drawing/2014/main" id="{3920BE55-66F9-1549-AB39-76DCE0576783}"/>
                </a:ext>
              </a:extLst>
            </p:cNvPr>
            <p:cNvSpPr/>
            <p:nvPr/>
          </p:nvSpPr>
          <p:spPr>
            <a:xfrm rot="2425840">
              <a:off x="6876000" y="2627071"/>
              <a:ext cx="257175" cy="220880"/>
            </a:xfrm>
            <a:prstGeom prst="diagStripe">
              <a:avLst/>
            </a:prstGeom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A78A9C-137F-A849-9090-AF4932741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329551"/>
              </p:ext>
            </p:extLst>
          </p:nvPr>
        </p:nvGraphicFramePr>
        <p:xfrm>
          <a:off x="1042054" y="3362927"/>
          <a:ext cx="17640411" cy="622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2694">
                  <a:extLst>
                    <a:ext uri="{9D8B030D-6E8A-4147-A177-3AD203B41FA5}">
                      <a16:colId xmlns:a16="http://schemas.microsoft.com/office/drawing/2014/main" val="238471029"/>
                    </a:ext>
                  </a:extLst>
                </a:gridCol>
                <a:gridCol w="10677717">
                  <a:extLst>
                    <a:ext uri="{9D8B030D-6E8A-4147-A177-3AD203B41FA5}">
                      <a16:colId xmlns:a16="http://schemas.microsoft.com/office/drawing/2014/main" val="1584254929"/>
                    </a:ext>
                  </a:extLst>
                </a:gridCol>
              </a:tblGrid>
              <a:tr h="783533">
                <a:tc gridSpan="2">
                  <a:txBody>
                    <a:bodyPr/>
                    <a:lstStyle/>
                    <a:p>
                      <a:pPr algn="ctr"/>
                      <a:r>
                        <a:rPr lang="en-CO" sz="2400" dirty="0"/>
                        <a:t>Restricciones  de tecnología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29685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Descripción de la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 bases de </a:t>
                      </a:r>
                      <a:r>
                        <a:rPr lang="en-US" dirty="0" err="1"/>
                        <a:t>datos</a:t>
                      </a:r>
                      <a:r>
                        <a:rPr lang="en-US" dirty="0"/>
                        <a:t> a </a:t>
                      </a:r>
                      <a:r>
                        <a:rPr lang="en-US" dirty="0" err="1"/>
                        <a:t>utilizar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deben</a:t>
                      </a:r>
                      <a:r>
                        <a:rPr lang="en-US" dirty="0"/>
                        <a:t> ser </a:t>
                      </a:r>
                      <a:r>
                        <a:rPr lang="en-US" dirty="0" err="1"/>
                        <a:t>relacionales</a:t>
                      </a:r>
                      <a:r>
                        <a:rPr lang="en-US" dirty="0"/>
                        <a:t>, no se </a:t>
                      </a:r>
                      <a:r>
                        <a:rPr lang="en-US" dirty="0" err="1"/>
                        <a:t>permite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uso</a:t>
                      </a:r>
                      <a:r>
                        <a:rPr lang="en-US" dirty="0"/>
                        <a:t> de bases de </a:t>
                      </a:r>
                      <a:r>
                        <a:rPr lang="en-US" dirty="0" err="1"/>
                        <a:t>datos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documentales</a:t>
                      </a:r>
                      <a:r>
                        <a:rPr lang="en-US" dirty="0"/>
                        <a:t> o NoSQL.</a:t>
                      </a:r>
                      <a:endParaRPr lang="en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6990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Usuario que expresa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Dirección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tecnología</a:t>
                      </a:r>
                      <a:r>
                        <a:rPr lang="en-CO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310766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Justificación para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dirty="0"/>
                        <a:t>Garantizar ACID en todas las operaciones, desconocimiento de este tipo de bases de datos en el equipo actual, se busca establecer un stack tecnológico en la organización.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94452"/>
                  </a:ext>
                </a:extLst>
              </a:tr>
              <a:tr h="640351">
                <a:tc>
                  <a:txBody>
                    <a:bodyPr/>
                    <a:lstStyle/>
                    <a:p>
                      <a:r>
                        <a:rPr lang="en-CO" sz="2800" b="1" dirty="0"/>
                        <a:t>Cómo considera que pueda afectar la arquitectura del sistema esta restricción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dirty="0"/>
                        <a:t>Escalar horizontalmente bases de datos SQL a través de sharding o maestro-esclavo.</a:t>
                      </a:r>
                    </a:p>
                    <a:p>
                      <a:r>
                        <a:rPr lang="en-CO" dirty="0"/>
                        <a:t>Al no poder implementar una solución de caché con una base de datos NoSQL (clave-valor por ejemplo) el perfomance puede verse afectado.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814994"/>
                  </a:ext>
                </a:extLst>
              </a:tr>
            </a:tbl>
          </a:graphicData>
        </a:graphic>
      </p:graphicFrame>
      <p:sp>
        <p:nvSpPr>
          <p:cNvPr id="15" name="Pentagon 14">
            <a:extLst>
              <a:ext uri="{FF2B5EF4-FFF2-40B4-BE49-F238E27FC236}">
                <a16:creationId xmlns:a16="http://schemas.microsoft.com/office/drawing/2014/main" id="{7CA5739A-9219-4D4B-934B-7F23A33D8947}"/>
              </a:ext>
            </a:extLst>
          </p:cNvPr>
          <p:cNvSpPr/>
          <p:nvPr/>
        </p:nvSpPr>
        <p:spPr>
          <a:xfrm>
            <a:off x="2827114" y="849088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Restricciones de Tecnología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6943C0-DBF2-D842-99B5-D74377BBA61A}"/>
              </a:ext>
            </a:extLst>
          </p:cNvPr>
          <p:cNvSpPr txBox="1"/>
          <p:nvPr/>
        </p:nvSpPr>
        <p:spPr>
          <a:xfrm>
            <a:off x="2827114" y="2139897"/>
            <a:ext cx="15802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000" dirty="0">
                <a:solidFill>
                  <a:schemeClr val="accent1"/>
                </a:solidFill>
              </a:rPr>
              <a:t>A partir del enunciado del proyecto, identifique restricciones de negocio que puedan servir como entrada al proceso de diseño</a:t>
            </a:r>
          </a:p>
        </p:txBody>
      </p:sp>
    </p:spTree>
    <p:extLst>
      <p:ext uri="{BB962C8B-B14F-4D97-AF65-F5344CB8AC3E}">
        <p14:creationId xmlns:p14="http://schemas.microsoft.com/office/powerpoint/2010/main" val="560998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81F5B806-8B2D-AE50-0A27-48994D40A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438" y="1178805"/>
            <a:ext cx="2784659" cy="10756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3E24F2-D469-0477-E32A-013755FCD7E6}"/>
              </a:ext>
            </a:extLst>
          </p:cNvPr>
          <p:cNvSpPr txBox="1"/>
          <p:nvPr/>
        </p:nvSpPr>
        <p:spPr>
          <a:xfrm>
            <a:off x="1741439" y="4641559"/>
            <a:ext cx="16621223" cy="3290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309" b="1" dirty="0">
                <a:latin typeface="Lato" panose="020F0502020204030203" pitchFamily="34" charset="0"/>
              </a:rPr>
              <a:t>© - Derechos Reservados: </a:t>
            </a:r>
            <a:r>
              <a:rPr lang="es-419" sz="2309" dirty="0">
                <a:latin typeface="Lato" panose="020F0502020204030203" pitchFamily="34" charset="0"/>
              </a:rPr>
              <a:t>la presente obra, y en general todos sus contenidos, se encuentran protegidos por las normas internacionales y nacionales vigentes sobre propiedad Intelectual, por lo tanto su utilización parcial o total, reproducción, comunicación pública, transformación, distribución, alquiler, préstamo público e importación, total o parcial, en todo o en parte, en formato impreso o digital y en cualquier formato conocido o por conocer, se encuentran prohibidos, y solo serán lícitos en la medida en que se cuente con la autorización previa y expresa por escrito de la Universidad de los Andes.</a:t>
            </a:r>
          </a:p>
          <a:p>
            <a:endParaRPr lang="es-419" sz="2309" dirty="0">
              <a:latin typeface="Lato" panose="020F0502020204030203" pitchFamily="34" charset="0"/>
            </a:endParaRPr>
          </a:p>
          <a:p>
            <a:r>
              <a:rPr lang="es-419" sz="2309" dirty="0">
                <a:latin typeface="Lato" panose="020F0502020204030203" pitchFamily="34" charset="0"/>
              </a:rPr>
              <a:t>De igual manera, la utilización de la imagen de las personas, docentes o estudiantes, sin su previa autorización está expresamente prohibida. En caso de incumplirse con lo mencionado, se procederá de conformidad con los reglamentos y políticas de la universidad, sin perjuicio de las demás acciones legales aplicables.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2F0434D-F534-2403-C639-2D7194B7065D}"/>
              </a:ext>
            </a:extLst>
          </p:cNvPr>
          <p:cNvCxnSpPr>
            <a:cxnSpLocks/>
          </p:cNvCxnSpPr>
          <p:nvPr/>
        </p:nvCxnSpPr>
        <p:spPr>
          <a:xfrm>
            <a:off x="1741439" y="4047944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EDDB248-E9A3-3F5C-5EC0-E5BE576ADD19}"/>
              </a:ext>
            </a:extLst>
          </p:cNvPr>
          <p:cNvCxnSpPr>
            <a:cxnSpLocks/>
          </p:cNvCxnSpPr>
          <p:nvPr/>
        </p:nvCxnSpPr>
        <p:spPr>
          <a:xfrm>
            <a:off x="1741439" y="8598993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EAB3392-A4DF-DC0F-9005-BFDA8D351B43}"/>
              </a:ext>
            </a:extLst>
          </p:cNvPr>
          <p:cNvSpPr/>
          <p:nvPr/>
        </p:nvSpPr>
        <p:spPr>
          <a:xfrm>
            <a:off x="0" y="273448"/>
            <a:ext cx="158465" cy="11308555"/>
          </a:xfrm>
          <a:prstGeom prst="rect">
            <a:avLst/>
          </a:prstGeom>
          <a:solidFill>
            <a:srgbClr val="212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A3E730-9418-BC79-0993-BC738F7162F9}"/>
              </a:ext>
            </a:extLst>
          </p:cNvPr>
          <p:cNvSpPr/>
          <p:nvPr/>
        </p:nvSpPr>
        <p:spPr>
          <a:xfrm>
            <a:off x="0" y="1871356"/>
            <a:ext cx="158465" cy="9753630"/>
          </a:xfrm>
          <a:prstGeom prst="rect">
            <a:avLst/>
          </a:prstGeom>
          <a:solidFill>
            <a:srgbClr val="F9E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pic>
        <p:nvPicPr>
          <p:cNvPr id="16" name="Imagen 15" descr="Fondo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3FFFE140-7A0A-FA90-4C23-6383FB55A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90" y="2529840"/>
            <a:ext cx="5760324" cy="679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84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3">
  <a:themeElements>
    <a:clrScheme name="MISO 1">
      <a:dk1>
        <a:srgbClr val="4C4D4C"/>
      </a:dk1>
      <a:lt1>
        <a:srgbClr val="FEFAFA"/>
      </a:lt1>
      <a:dk2>
        <a:srgbClr val="4F504F"/>
      </a:dk2>
      <a:lt2>
        <a:srgbClr val="FFFAFA"/>
      </a:lt2>
      <a:accent1>
        <a:srgbClr val="0C0D2B"/>
      </a:accent1>
      <a:accent2>
        <a:srgbClr val="332174"/>
      </a:accent2>
      <a:accent3>
        <a:srgbClr val="3AB1E3"/>
      </a:accent3>
      <a:accent4>
        <a:srgbClr val="0070BA"/>
      </a:accent4>
      <a:accent5>
        <a:srgbClr val="9AC3E2"/>
      </a:accent5>
      <a:accent6>
        <a:srgbClr val="9991BA"/>
      </a:accent6>
      <a:hlink>
        <a:srgbClr val="32AEE2"/>
      </a:hlink>
      <a:folHlink>
        <a:srgbClr val="4D9B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3" id="{191589FF-03B5-B54F-9F12-A00A11A3A487}" vid="{2CB6F1CE-0CB0-934C-9A98-3DD7BE7A16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860d3e-6179-436c-977f-c8fec32702f9" xsi:nil="true"/>
    <lcf76f155ced4ddcb4097134ff3c332f xmlns="975eb909-7871-4881-a0e4-375dc0be450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C2E94BA26B184CBB6282D7591E99F9" ma:contentTypeVersion="16" ma:contentTypeDescription="Crear nuevo documento." ma:contentTypeScope="" ma:versionID="d2cced94f7dcc45aa1f33cd122d49447">
  <xsd:schema xmlns:xsd="http://www.w3.org/2001/XMLSchema" xmlns:xs="http://www.w3.org/2001/XMLSchema" xmlns:p="http://schemas.microsoft.com/office/2006/metadata/properties" xmlns:ns2="1a860d3e-6179-436c-977f-c8fec32702f9" xmlns:ns3="975eb909-7871-4881-a0e4-375dc0be4505" targetNamespace="http://schemas.microsoft.com/office/2006/metadata/properties" ma:root="true" ma:fieldsID="fd8633f808c4f6ac46999f2159d7c5c0" ns2:_="" ns3:_="">
    <xsd:import namespace="1a860d3e-6179-436c-977f-c8fec32702f9"/>
    <xsd:import namespace="975eb909-7871-4881-a0e4-375dc0be450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60d3e-6179-436c-977f-c8fec32702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57bf8d-d566-4d19-80db-30c522907b41}" ma:internalName="TaxCatchAll" ma:showField="CatchAllData" ma:web="1a860d3e-6179-436c-977f-c8fec32702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eb909-7871-4881-a0e4-375dc0be45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a38e7027-190f-4f90-8839-9f8250567d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FD2471-3D1F-4969-8D5F-A51CCB9F74C4}">
  <ds:schemaRefs>
    <ds:schemaRef ds:uri="http://purl.org/dc/terms/"/>
    <ds:schemaRef ds:uri="http://purl.org/dc/dcmitype/"/>
    <ds:schemaRef ds:uri="975eb909-7871-4881-a0e4-375dc0be4505"/>
    <ds:schemaRef ds:uri="1a860d3e-6179-436c-977f-c8fec32702f9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17859706-3F44-4BA3-BB3A-EF74751870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60d3e-6179-436c-977f-c8fec32702f9"/>
    <ds:schemaRef ds:uri="975eb909-7871-4881-a0e4-375dc0be45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AAF8E1-796F-4378-AE21-49971A6A03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MISO</Template>
  <TotalTime>3913</TotalTime>
  <Words>1053</Words>
  <Application>Microsoft Macintosh PowerPoint</Application>
  <PresentationFormat>Custom</PresentationFormat>
  <Paragraphs>98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GT America</vt:lpstr>
      <vt:lpstr>GT America Bold</vt:lpstr>
      <vt:lpstr>GT America Thin</vt:lpstr>
      <vt:lpstr>Lato</vt:lpstr>
      <vt:lpstr>Tema3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Felipe Arturo Bonilla Parra</dc:creator>
  <cp:lastModifiedBy>Juan Felipe Rojas Cendales</cp:lastModifiedBy>
  <cp:revision>103</cp:revision>
  <dcterms:created xsi:type="dcterms:W3CDTF">2020-02-04T21:09:36Z</dcterms:created>
  <dcterms:modified xsi:type="dcterms:W3CDTF">2025-08-09T04:01:38Z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0x01010032C2E94BA26B184CBB6282D7591E99F9</vt:lpwstr>
  </property>
  <property fmtid="{D5CDD505-2E9C-101B-9397-08002B2CF9AE}" pid="3" name="MediaServiceImageTags">
    <vt:lpwstr/>
  </property>
</Properties>
</file>